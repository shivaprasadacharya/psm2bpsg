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61" r:id="rId2"/>
    <p:sldId id="257" r:id="rId3"/>
    <p:sldId id="258" r:id="rId4"/>
    <p:sldId id="259" r:id="rId5"/>
    <p:sldId id="260" r:id="rId6"/>
    <p:sldId id="262" r:id="rId7"/>
  </p:sldIdLst>
  <p:sldSz cx="14630400" cy="8229600"/>
  <p:notesSz cx="8229600" cy="14630400"/>
  <p:embeddedFontLst>
    <p:embeddedFont>
      <p:font typeface="Calibri Light" panose="020F0302020204030204" pitchFamily="34" charset="0"/>
      <p:regular r:id="rId9"/>
      <p:italic r:id="rId10"/>
    </p:embeddedFon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Brygada 1918 Semi Bold" panose="020B0604020202020204" charset="0"/>
      <p:regular r:id="rId15"/>
    </p:embeddedFont>
    <p:embeddedFont>
      <p:font typeface="Brygada 1918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6" d="100"/>
          <a:sy n="56" d="100"/>
        </p:scale>
        <p:origin x="62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9621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1642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55746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Estonia's Population Registry: A Foundation for Digital Society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02350" y="4530804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 smtClean="0">
                <a:solidFill>
                  <a:srgbClr val="403011"/>
                </a:solidFill>
                <a:latin typeface="+mj-lt"/>
                <a:ea typeface="Brygada 1918" pitchFamily="34" charset="-122"/>
                <a:cs typeface="Brygada 1918" pitchFamily="34" charset="-120"/>
              </a:rPr>
              <a:t>Presented By </a:t>
            </a:r>
            <a:r>
              <a:rPr lang="en-US" sz="2000" dirty="0" err="1" smtClean="0">
                <a:solidFill>
                  <a:srgbClr val="403011"/>
                </a:solidFill>
                <a:latin typeface="+mj-lt"/>
                <a:ea typeface="Brygada 1918" pitchFamily="34" charset="-122"/>
                <a:cs typeface="Brygada 1918" pitchFamily="34" charset="-120"/>
              </a:rPr>
              <a:t>Asmita</a:t>
            </a:r>
            <a:r>
              <a:rPr lang="en-US" sz="2000" dirty="0" smtClean="0">
                <a:solidFill>
                  <a:srgbClr val="403011"/>
                </a:solidFill>
                <a:latin typeface="+mj-lt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2000" dirty="0" err="1" smtClean="0">
                <a:solidFill>
                  <a:srgbClr val="403011"/>
                </a:solidFill>
                <a:latin typeface="+mj-lt"/>
                <a:ea typeface="Brygada 1918" pitchFamily="34" charset="-122"/>
                <a:cs typeface="Brygada 1918" pitchFamily="34" charset="-120"/>
              </a:rPr>
              <a:t>Upreti</a:t>
            </a:r>
            <a:endParaRPr lang="en-US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86074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56084"/>
            <a:ext cx="7107198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The Core of Estonia's E-Governance</a:t>
            </a:r>
            <a:endParaRPr lang="en-US" sz="3300" dirty="0"/>
          </a:p>
        </p:txBody>
      </p:sp>
      <p:sp>
        <p:nvSpPr>
          <p:cNvPr id="5" name="Text 1"/>
          <p:cNvSpPr/>
          <p:nvPr/>
        </p:nvSpPr>
        <p:spPr>
          <a:xfrm>
            <a:off x="793789" y="2470130"/>
            <a:ext cx="2214741" cy="654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400" dirty="0">
                <a:solidFill>
                  <a:srgbClr val="403011"/>
                </a:solidFill>
                <a:latin typeface="+mj-lt"/>
                <a:ea typeface="Brygada 1918 Semi Bold" pitchFamily="34" charset="-122"/>
                <a:cs typeface="Brygada 1918 Semi Bold" pitchFamily="34" charset="-120"/>
              </a:rPr>
              <a:t>Unique Identity</a:t>
            </a:r>
            <a:endParaRPr lang="en-US" sz="2400" dirty="0">
              <a:latin typeface="+mj-lt"/>
            </a:endParaRPr>
          </a:p>
        </p:txBody>
      </p:sp>
      <p:sp>
        <p:nvSpPr>
          <p:cNvPr id="6" name="Text 2"/>
          <p:cNvSpPr/>
          <p:nvPr/>
        </p:nvSpPr>
        <p:spPr>
          <a:xfrm>
            <a:off x="793790" y="2848570"/>
            <a:ext cx="7556421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+mj-lt"/>
                <a:ea typeface="Brygada 1918" pitchFamily="34" charset="-122"/>
                <a:cs typeface="Brygada 1918" pitchFamily="34" charset="-120"/>
              </a:rPr>
              <a:t>Every resident receives a personal identification code upon birth or residency, linking them to a comprehensive digital profile.</a:t>
            </a:r>
            <a:endParaRPr lang="en-US" sz="2000" dirty="0">
              <a:latin typeface="+mj-lt"/>
            </a:endParaRPr>
          </a:p>
        </p:txBody>
      </p:sp>
      <p:sp>
        <p:nvSpPr>
          <p:cNvPr id="8" name="Text 3"/>
          <p:cNvSpPr/>
          <p:nvPr/>
        </p:nvSpPr>
        <p:spPr>
          <a:xfrm>
            <a:off x="793790" y="4371023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400" dirty="0">
                <a:solidFill>
                  <a:srgbClr val="403011"/>
                </a:solidFill>
                <a:latin typeface="+mj-lt"/>
                <a:ea typeface="Brygada 1918 Semi Bold" pitchFamily="34" charset="-122"/>
                <a:cs typeface="Brygada 1918 Semi Bold" pitchFamily="34" charset="-120"/>
              </a:rPr>
              <a:t>Centralized</a:t>
            </a:r>
            <a:r>
              <a:rPr lang="en-US" sz="24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 </a:t>
            </a:r>
            <a:r>
              <a:rPr lang="en-US" sz="2400" dirty="0">
                <a:solidFill>
                  <a:srgbClr val="403011"/>
                </a:solidFill>
                <a:latin typeface="+mj-lt"/>
                <a:ea typeface="Brygada 1918 Semi Bold" pitchFamily="34" charset="-122"/>
                <a:cs typeface="Brygada 1918 Semi Bold" pitchFamily="34" charset="-120"/>
              </a:rPr>
              <a:t>Data</a:t>
            </a:r>
            <a:endParaRPr lang="en-US" sz="2400" dirty="0">
              <a:latin typeface="+mj-lt"/>
            </a:endParaRPr>
          </a:p>
        </p:txBody>
      </p:sp>
      <p:sp>
        <p:nvSpPr>
          <p:cNvPr id="9" name="Text 4"/>
          <p:cNvSpPr/>
          <p:nvPr/>
        </p:nvSpPr>
        <p:spPr>
          <a:xfrm>
            <a:off x="793790" y="4738807"/>
            <a:ext cx="7556421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+mj-lt"/>
                <a:ea typeface="Brygada 1918" pitchFamily="34" charset="-122"/>
                <a:cs typeface="Brygada 1918" pitchFamily="34" charset="-120"/>
              </a:rPr>
              <a:t>The registry securely stores vital information including birth, death, marriage, residency, and citizenship details.</a:t>
            </a:r>
            <a:endParaRPr lang="en-US" sz="2000" dirty="0">
              <a:latin typeface="+mj-lt"/>
            </a:endParaRPr>
          </a:p>
        </p:txBody>
      </p:sp>
      <p:sp>
        <p:nvSpPr>
          <p:cNvPr id="11" name="Text 5"/>
          <p:cNvSpPr/>
          <p:nvPr/>
        </p:nvSpPr>
        <p:spPr>
          <a:xfrm>
            <a:off x="793789" y="5849778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400" dirty="0">
                <a:solidFill>
                  <a:srgbClr val="403011"/>
                </a:solidFill>
                <a:latin typeface="+mj-lt"/>
                <a:ea typeface="Brygada 1918 Semi Bold" pitchFamily="34" charset="-122"/>
                <a:cs typeface="Brygada 1918 Semi Bold" pitchFamily="34" charset="-120"/>
              </a:rPr>
              <a:t>Interoperability</a:t>
            </a:r>
            <a:endParaRPr lang="en-US" sz="2400" dirty="0">
              <a:latin typeface="+mj-lt"/>
            </a:endParaRPr>
          </a:p>
        </p:txBody>
      </p:sp>
      <p:sp>
        <p:nvSpPr>
          <p:cNvPr id="12" name="Text 6"/>
          <p:cNvSpPr/>
          <p:nvPr/>
        </p:nvSpPr>
        <p:spPr>
          <a:xfrm>
            <a:off x="793789" y="6223992"/>
            <a:ext cx="7556421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+mj-lt"/>
                <a:ea typeface="Brygada 1918" pitchFamily="34" charset="-122"/>
                <a:cs typeface="Brygada 1918" pitchFamily="34" charset="-120"/>
              </a:rPr>
              <a:t>Seamlessly integrates with other e-services via X-Road, ensuring data consistency and reducing bureaucracy.</a:t>
            </a:r>
            <a:endParaRPr lang="en-US" sz="2000" dirty="0"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3391" y="364093"/>
            <a:ext cx="5800368" cy="413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4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Benefits for Citizens and Governance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63391" y="1110377"/>
            <a:ext cx="2631281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400" dirty="0">
                <a:solidFill>
                  <a:srgbClr val="403011"/>
                </a:solidFill>
                <a:latin typeface="+mj-lt"/>
                <a:ea typeface="Brygada 1918 Semi Bold" pitchFamily="34" charset="-122"/>
                <a:cs typeface="Brygada 1918 Semi Bold" pitchFamily="34" charset="-120"/>
              </a:rPr>
              <a:t>Streamlined Public Services</a:t>
            </a:r>
            <a:endParaRPr lang="en-US" sz="2400" dirty="0">
              <a:latin typeface="+mj-lt"/>
            </a:endParaRPr>
          </a:p>
        </p:txBody>
      </p:sp>
      <p:sp>
        <p:nvSpPr>
          <p:cNvPr id="4" name="Text 2"/>
          <p:cNvSpPr/>
          <p:nvPr/>
        </p:nvSpPr>
        <p:spPr>
          <a:xfrm>
            <a:off x="463391" y="1489472"/>
            <a:ext cx="6690360" cy="211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400" dirty="0">
                <a:solidFill>
                  <a:srgbClr val="403011"/>
                </a:solidFill>
                <a:latin typeface="+mj-lt"/>
                <a:ea typeface="Brygada 1918" pitchFamily="34" charset="-122"/>
                <a:cs typeface="Brygada 1918" pitchFamily="34" charset="-120"/>
              </a:rPr>
              <a:t>From healthcare to voting, the registry enables quick and secure access to essential government services.</a:t>
            </a:r>
            <a:endParaRPr lang="en-US" sz="2400" dirty="0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463391" y="1820347"/>
            <a:ext cx="6690360" cy="211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2400" dirty="0">
                <a:solidFill>
                  <a:srgbClr val="403011"/>
                </a:solidFill>
                <a:latin typeface="+mj-lt"/>
                <a:ea typeface="Brygada 1918" pitchFamily="34" charset="-122"/>
                <a:cs typeface="Brygada 1918" pitchFamily="34" charset="-120"/>
              </a:rPr>
              <a:t>Online voting with digital ID</a:t>
            </a:r>
            <a:endParaRPr lang="en-US" sz="2400" dirty="0">
              <a:latin typeface="+mj-lt"/>
            </a:endParaRPr>
          </a:p>
        </p:txBody>
      </p:sp>
      <p:sp>
        <p:nvSpPr>
          <p:cNvPr id="6" name="Text 4"/>
          <p:cNvSpPr/>
          <p:nvPr/>
        </p:nvSpPr>
        <p:spPr>
          <a:xfrm>
            <a:off x="492442" y="2097972"/>
            <a:ext cx="6690360" cy="211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2400" dirty="0">
                <a:solidFill>
                  <a:srgbClr val="403011"/>
                </a:solidFill>
                <a:latin typeface="+mj-lt"/>
                <a:ea typeface="Brygada 1918" pitchFamily="34" charset="-122"/>
                <a:cs typeface="Brygada 1918" pitchFamily="34" charset="-120"/>
              </a:rPr>
              <a:t>A</a:t>
            </a:r>
            <a:r>
              <a:rPr lang="en-US" sz="2400" dirty="0" smtClean="0">
                <a:solidFill>
                  <a:srgbClr val="403011"/>
                </a:solidFill>
                <a:latin typeface="+mj-lt"/>
                <a:ea typeface="Brygada 1918" pitchFamily="34" charset="-122"/>
                <a:cs typeface="Brygada 1918" pitchFamily="34" charset="-120"/>
              </a:rPr>
              <a:t>uthorization </a:t>
            </a:r>
            <a:r>
              <a:rPr lang="en-US" sz="2400" dirty="0">
                <a:solidFill>
                  <a:srgbClr val="403011"/>
                </a:solidFill>
                <a:latin typeface="+mj-lt"/>
                <a:ea typeface="Brygada 1918" pitchFamily="34" charset="-122"/>
                <a:cs typeface="Brygada 1918" pitchFamily="34" charset="-120"/>
              </a:rPr>
              <a:t>via e-Health</a:t>
            </a:r>
            <a:endParaRPr lang="en-US" sz="2400" dirty="0">
              <a:latin typeface="+mj-lt"/>
            </a:endParaRPr>
          </a:p>
        </p:txBody>
      </p:sp>
      <p:sp>
        <p:nvSpPr>
          <p:cNvPr id="7" name="Text 5"/>
          <p:cNvSpPr/>
          <p:nvPr/>
        </p:nvSpPr>
        <p:spPr>
          <a:xfrm>
            <a:off x="492442" y="2422506"/>
            <a:ext cx="6690360" cy="211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1650"/>
              </a:lnSpc>
              <a:buSzPct val="100000"/>
              <a:buChar char="•"/>
            </a:pPr>
            <a:r>
              <a:rPr lang="en-US" sz="2400" dirty="0">
                <a:solidFill>
                  <a:srgbClr val="403011"/>
                </a:solidFill>
                <a:latin typeface="+mj-lt"/>
                <a:ea typeface="Brygada 1918" pitchFamily="34" charset="-122"/>
                <a:cs typeface="Brygada 1918" pitchFamily="34" charset="-120"/>
              </a:rPr>
              <a:t>Business registration in minutes</a:t>
            </a:r>
            <a:endParaRPr lang="en-US" sz="2400" dirty="0">
              <a:latin typeface="+mj-lt"/>
            </a:endParaRPr>
          </a:p>
        </p:txBody>
      </p:sp>
      <p:sp>
        <p:nvSpPr>
          <p:cNvPr id="9" name="Text 6"/>
          <p:cNvSpPr/>
          <p:nvPr/>
        </p:nvSpPr>
        <p:spPr>
          <a:xfrm>
            <a:off x="7609999" y="1244203"/>
            <a:ext cx="3071693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262890" y="3202228"/>
            <a:ext cx="6690360" cy="2056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403011"/>
                </a:solidFill>
                <a:latin typeface="+mj-lt"/>
                <a:ea typeface="Brygada 1918" pitchFamily="34" charset="-122"/>
                <a:cs typeface="Brygada 1918" pitchFamily="34" charset="-120"/>
              </a:rPr>
              <a:t>Real-time updates and strict security protocols ensure the reliability and integrity of citizen data.</a:t>
            </a:r>
            <a:endParaRPr lang="en-US" sz="2400" dirty="0">
              <a:latin typeface="+mj-lt"/>
            </a:endParaRPr>
          </a:p>
        </p:txBody>
      </p:sp>
      <p:sp>
        <p:nvSpPr>
          <p:cNvPr id="11" name="Text 8"/>
          <p:cNvSpPr/>
          <p:nvPr/>
        </p:nvSpPr>
        <p:spPr>
          <a:xfrm>
            <a:off x="298905" y="3583824"/>
            <a:ext cx="6736736" cy="164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403011"/>
                </a:solidFill>
                <a:latin typeface="+mj-lt"/>
                <a:ea typeface="Brygada 1918" pitchFamily="34" charset="-122"/>
                <a:cs typeface="Brygada 1918" pitchFamily="34" charset="-120"/>
              </a:rPr>
              <a:t>Reduced administrative errors</a:t>
            </a:r>
            <a:endParaRPr lang="en-US" sz="2400" dirty="0">
              <a:latin typeface="+mj-lt"/>
            </a:endParaRPr>
          </a:p>
        </p:txBody>
      </p:sp>
      <p:sp>
        <p:nvSpPr>
          <p:cNvPr id="12" name="Text 9"/>
          <p:cNvSpPr/>
          <p:nvPr/>
        </p:nvSpPr>
        <p:spPr>
          <a:xfrm>
            <a:off x="298905" y="3871327"/>
            <a:ext cx="6409850" cy="781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400" dirty="0" smtClean="0">
                <a:solidFill>
                  <a:srgbClr val="403011"/>
                </a:solidFill>
                <a:latin typeface="+mj-lt"/>
                <a:ea typeface="Brygada 1918" pitchFamily="34" charset="-122"/>
                <a:cs typeface="Brygada 1918" pitchFamily="34" charset="-120"/>
              </a:rPr>
              <a:t>Improved demographic statistics</a:t>
            </a:r>
            <a:endParaRPr lang="en-US" sz="2400" dirty="0">
              <a:latin typeface="+mj-lt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216513" y="4177865"/>
            <a:ext cx="5543253" cy="935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2400" dirty="0">
                <a:solidFill>
                  <a:srgbClr val="403011"/>
                </a:solidFill>
                <a:latin typeface="+mj-lt"/>
                <a:ea typeface="Brygada 1918" pitchFamily="34" charset="-122"/>
                <a:cs typeface="Brygada 1918" pitchFamily="34" charset="-120"/>
              </a:rPr>
              <a:t>High public confidence in data protection</a:t>
            </a:r>
            <a:endParaRPr lang="en-US" sz="2400" dirty="0">
              <a:latin typeface="+mj-lt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62890" y="2765168"/>
            <a:ext cx="8803992" cy="3488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</a:pPr>
            <a:r>
              <a:rPr lang="en-US" sz="24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Enhanced Data Accuracy &amp; Trust      </a:t>
            </a:r>
            <a:endParaRPr lang="en-US" sz="24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74789" y="7528279"/>
            <a:ext cx="2023409" cy="61582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9" y="100727"/>
            <a:ext cx="14630400" cy="2976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687247"/>
            <a:ext cx="1091946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Continuous Innovation &amp; Future Outlook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73618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01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5091232"/>
            <a:ext cx="4196358" cy="30480"/>
          </a:xfrm>
          <a:prstGeom prst="rect">
            <a:avLst/>
          </a:prstGeom>
          <a:solidFill>
            <a:srgbClr val="626C3B"/>
          </a:solidFill>
          <a:ln/>
        </p:spPr>
      </p:sp>
      <p:sp>
        <p:nvSpPr>
          <p:cNvPr id="6" name="Text 3"/>
          <p:cNvSpPr/>
          <p:nvPr/>
        </p:nvSpPr>
        <p:spPr>
          <a:xfrm>
            <a:off x="793790" y="52655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Evolving Digital IDs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5755958"/>
            <a:ext cx="419635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+mj-lt"/>
                <a:ea typeface="Brygada 1918" pitchFamily="34" charset="-122"/>
                <a:cs typeface="Brygada 1918" pitchFamily="34" charset="-120"/>
              </a:rPr>
              <a:t>Constant upgrades to digital identity solutions, including mobile-ID and smart ID, enhance convenience and security.</a:t>
            </a:r>
            <a:endParaRPr lang="en-US" sz="2000" dirty="0">
              <a:latin typeface="+mj-lt"/>
            </a:endParaRPr>
          </a:p>
        </p:txBody>
      </p:sp>
      <p:sp>
        <p:nvSpPr>
          <p:cNvPr id="8" name="Text 5"/>
          <p:cNvSpPr/>
          <p:nvPr/>
        </p:nvSpPr>
        <p:spPr>
          <a:xfrm>
            <a:off x="5216962" y="473618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02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216962" y="5091232"/>
            <a:ext cx="4196358" cy="30480"/>
          </a:xfrm>
          <a:prstGeom prst="rect">
            <a:avLst/>
          </a:prstGeom>
          <a:solidFill>
            <a:srgbClr val="83792E"/>
          </a:solidFill>
          <a:ln/>
        </p:spPr>
      </p:sp>
      <p:sp>
        <p:nvSpPr>
          <p:cNvPr id="10" name="Text 7"/>
          <p:cNvSpPr/>
          <p:nvPr/>
        </p:nvSpPr>
        <p:spPr>
          <a:xfrm>
            <a:off x="5216962" y="5265539"/>
            <a:ext cx="31043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Blockchain Integration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216962" y="5755958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+mj-lt"/>
                <a:ea typeface="Brygada 1918" pitchFamily="34" charset="-122"/>
                <a:cs typeface="Brygada 1918" pitchFamily="34" charset="-120"/>
              </a:rPr>
              <a:t>Exploring blockchain technology for added data integrity and tamper-proof records.</a:t>
            </a:r>
            <a:endParaRPr lang="en-US" sz="2000" dirty="0">
              <a:latin typeface="+mj-lt"/>
            </a:endParaRPr>
          </a:p>
        </p:txBody>
      </p:sp>
      <p:sp>
        <p:nvSpPr>
          <p:cNvPr id="12" name="Text 9"/>
          <p:cNvSpPr/>
          <p:nvPr/>
        </p:nvSpPr>
        <p:spPr>
          <a:xfrm>
            <a:off x="9640133" y="473618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9640133" y="5091232"/>
            <a:ext cx="4196358" cy="30480"/>
          </a:xfrm>
          <a:prstGeom prst="rect">
            <a:avLst/>
          </a:prstGeom>
          <a:solidFill>
            <a:srgbClr val="E8AF3B"/>
          </a:solidFill>
          <a:ln/>
        </p:spPr>
      </p:sp>
      <p:sp>
        <p:nvSpPr>
          <p:cNvPr id="14" name="Text 11"/>
          <p:cNvSpPr/>
          <p:nvPr/>
        </p:nvSpPr>
        <p:spPr>
          <a:xfrm>
            <a:off x="9640133" y="5265539"/>
            <a:ext cx="299466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Cross-Border Services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9640133" y="5755958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+mj-lt"/>
                <a:ea typeface="Brygada 1918" pitchFamily="34" charset="-122"/>
                <a:cs typeface="Brygada 1918" pitchFamily="34" charset="-120"/>
              </a:rPr>
              <a:t>Pioneering efforts to allow Estonian digital IDs to be used for services in other EU countries.</a:t>
            </a:r>
            <a:endParaRPr lang="en-US" sz="2000" dirty="0">
              <a:latin typeface="+mj-lt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74789" y="7528279"/>
            <a:ext cx="2023409" cy="61582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37379"/>
            <a:ext cx="1051631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Conclusion: A Model for Digital Nations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133951" y="2354937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+mj-lt"/>
                <a:ea typeface="Brygada 1918" pitchFamily="34" charset="-122"/>
                <a:cs typeface="Brygada 1918" pitchFamily="34" charset="-120"/>
              </a:rPr>
              <a:t>Estonia's Population Registry stands as a testament to how a centralized, secure, and user-centric digital identity system can empower citizens and transform public administration.</a:t>
            </a:r>
            <a:endParaRPr lang="en-US" sz="2000" dirty="0">
              <a:latin typeface="+mj-lt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2099786"/>
            <a:ext cx="30480" cy="1236107"/>
          </a:xfrm>
          <a:prstGeom prst="rect">
            <a:avLst/>
          </a:prstGeom>
          <a:solidFill>
            <a:srgbClr val="626C3B"/>
          </a:solidFill>
          <a:ln/>
        </p:spPr>
      </p:sp>
      <p:sp>
        <p:nvSpPr>
          <p:cNvPr id="5" name="Text 3"/>
          <p:cNvSpPr/>
          <p:nvPr/>
        </p:nvSpPr>
        <p:spPr>
          <a:xfrm>
            <a:off x="963869" y="317355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 smtClean="0">
                <a:solidFill>
                  <a:srgbClr val="403011"/>
                </a:solidFill>
                <a:latin typeface="+mj-lt"/>
                <a:ea typeface="Brygada 1918" pitchFamily="34" charset="-122"/>
                <a:cs typeface="Brygada 1918" pitchFamily="34" charset="-120"/>
              </a:rPr>
              <a:t>It provides a powerful example for other nations aspiring to build efficient, transparent, and resilient digital societies.</a:t>
            </a:r>
            <a:endParaRPr lang="en-US" sz="2000" dirty="0">
              <a:latin typeface="+mj-lt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270" y="3955018"/>
            <a:ext cx="4221599" cy="2721888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5890" y="3955018"/>
            <a:ext cx="4221599" cy="2721888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7510" y="3978890"/>
            <a:ext cx="4221599" cy="272188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74789" y="7528279"/>
            <a:ext cx="2023409" cy="61582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4789" y="7528279"/>
            <a:ext cx="2023409" cy="61582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 flipH="1">
            <a:off x="2513497" y="2368628"/>
            <a:ext cx="10233018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dirty="0" smtClean="0"/>
              <a:t>THANKYOU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248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267</Words>
  <Application>Microsoft Office PowerPoint</Application>
  <PresentationFormat>Custom</PresentationFormat>
  <Paragraphs>39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Calibri Light</vt:lpstr>
      <vt:lpstr>Calibri</vt:lpstr>
      <vt:lpstr>Wingdings</vt:lpstr>
      <vt:lpstr>Brygada 1918 Light</vt:lpstr>
      <vt:lpstr>Brygada 1918 Semi Bold</vt:lpstr>
      <vt:lpstr>Brygada 1918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Asmita Uprety</dc:creator>
  <cp:lastModifiedBy>Asmita Uprety</cp:lastModifiedBy>
  <cp:revision>9</cp:revision>
  <dcterms:created xsi:type="dcterms:W3CDTF">2025-12-13T11:50:44Z</dcterms:created>
  <dcterms:modified xsi:type="dcterms:W3CDTF">2025-12-14T13:27:06Z</dcterms:modified>
</cp:coreProperties>
</file>