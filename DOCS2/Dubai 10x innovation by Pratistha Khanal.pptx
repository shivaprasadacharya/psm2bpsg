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4" r:id="rId5"/>
    <p:sldMasterId id="2147483676" r:id="rId6"/>
    <p:sldMasterId id="2147483678" r:id="rId7"/>
    <p:sldMasterId id="2147483680" r:id="rId8"/>
  </p:sldMasterIdLst>
  <p:notesMasterIdLst>
    <p:notesMasterId r:id="rId11"/>
  </p:notesMasterIdLst>
  <p:sldIdLst>
    <p:sldId id="257" r:id="rId9"/>
    <p:sldId id="258" r:id="rId10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</p:sldIdLst>
  <p:sldSz cx="12192000" cy="6858000"/>
  <p:notesSz cx="6858000" cy="9144000"/>
  <p:custDataLst>
    <p:tags r:id="rId4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0" Type="http://schemas.openxmlformats.org/officeDocument/2006/relationships/tags" Target="tags/tag366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NULL" TargetMode="Externa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image" Target="NULL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image" Target="NULL" TargetMode="External"/><Relationship Id="rId5" Type="http://schemas.openxmlformats.org/officeDocument/2006/relationships/image" Target="../media/image3.pn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image" Target="NULL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 useBgFill="1">
        <p:nvSpPr>
          <p:cNvPr id="29" name="任意多边形: 形状 28"/>
          <p:cNvSpPr/>
          <p:nvPr userDrawn="1">
            <p:custDataLst>
              <p:tags r:id="rId3"/>
            </p:custDataLst>
          </p:nvPr>
        </p:nvSpPr>
        <p:spPr>
          <a:xfrm>
            <a:off x="-43498" y="0"/>
            <a:ext cx="8133715" cy="6858000"/>
          </a:xfrm>
          <a:custGeom>
            <a:avLst/>
            <a:gdLst>
              <a:gd name="connsiteX0" fmla="*/ 0 w 8133715"/>
              <a:gd name="connsiteY0" fmla="*/ 0 h 6858000"/>
              <a:gd name="connsiteX1" fmla="*/ 7222986 w 8133715"/>
              <a:gd name="connsiteY1" fmla="*/ 0 h 6858000"/>
              <a:gd name="connsiteX2" fmla="*/ 7375991 w 8133715"/>
              <a:gd name="connsiteY2" fmla="*/ 272912 h 6858000"/>
              <a:gd name="connsiteX3" fmla="*/ 8133715 w 8133715"/>
              <a:gd name="connsiteY3" fmla="*/ 3292475 h 6858000"/>
              <a:gd name="connsiteX4" fmla="*/ 7152404 w 8133715"/>
              <a:gd name="connsiteY4" fmla="*/ 6710845 h 6858000"/>
              <a:gd name="connsiteX5" fmla="*/ 7057808 w 8133715"/>
              <a:gd name="connsiteY5" fmla="*/ 6858000 h 6858000"/>
              <a:gd name="connsiteX6" fmla="*/ 0 w 81337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33715" h="6858000">
                <a:moveTo>
                  <a:pt x="0" y="0"/>
                </a:moveTo>
                <a:lnTo>
                  <a:pt x="7222986" y="0"/>
                </a:lnTo>
                <a:lnTo>
                  <a:pt x="7375991" y="272912"/>
                </a:lnTo>
                <a:cubicBezTo>
                  <a:pt x="7866190" y="1214460"/>
                  <a:pt x="8133715" y="2231496"/>
                  <a:pt x="8133715" y="3292475"/>
                </a:cubicBezTo>
                <a:cubicBezTo>
                  <a:pt x="8133715" y="4505023"/>
                  <a:pt x="7784294" y="5660175"/>
                  <a:pt x="7152404" y="6710845"/>
                </a:cubicBezTo>
                <a:lnTo>
                  <a:pt x="705780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9" name="@png2x_01_封面" descr="C:/Users/kingsoft/AppData/Local/Temp/fig2wpp/@png2x_01_封面.png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r:link="rId6"/>
          <a:stretch>
            <a:fillRect/>
          </a:stretch>
        </p:blipFill>
        <p:spPr>
          <a:xfrm>
            <a:off x="6299835" y="1270635"/>
            <a:ext cx="5184140" cy="50749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826135" y="1916430"/>
            <a:ext cx="6346190" cy="2662555"/>
          </a:xfrm>
          <a:noFill/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838200" y="854710"/>
            <a:ext cx="6346190" cy="857885"/>
          </a:xfrm>
          <a:noFill/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38200" y="4783025"/>
            <a:ext cx="2712910" cy="644181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tx2"/>
                </a:solidFill>
                <a:latin typeface="+mn-lt"/>
              </a:defRPr>
            </a:lvl2pPr>
            <a:lvl3pPr>
              <a:defRPr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>
                  <a:lumMod val="60000"/>
                  <a:lumOff val="40000"/>
                </a:schemeClr>
              </a:solidFill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8200" y="290285"/>
            <a:ext cx="6894195" cy="1422401"/>
          </a:xfrm>
          <a:noFill/>
        </p:spPr>
        <p:txBody>
          <a:bodyPr wrap="square" anchor="b" anchorCtr="0">
            <a:normAutofit/>
          </a:bodyPr>
          <a:lstStyle>
            <a:lvl1pPr algn="l">
              <a:defRPr sz="50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@png2x_01_目录" descr="C:/Users/kingsoft/AppData/Local/Temp/fig2wpp/@png2x_01_目录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7781290" y="676275"/>
            <a:ext cx="2770505" cy="2770505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0">
                <a:schemeClr val="accent1">
                  <a:alpha val="2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>
                  <a:lumMod val="60000"/>
                  <a:lumOff val="40000"/>
                </a:schemeClr>
              </a:solidFill>
              <a:sym typeface="+mn-lt"/>
            </a:endParaRPr>
          </a:p>
        </p:txBody>
      </p:sp>
      <p:pic>
        <p:nvPicPr>
          <p:cNvPr id="9" name="@svg_02_章节" descr="C:/Users/kingsoft/AppData/Local/Temp/fig2wpp/@svg_02_章节.sv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/>
          <a:stretch>
            <a:fillRect/>
          </a:stretch>
        </p:blipFill>
        <p:spPr>
          <a:xfrm>
            <a:off x="0" y="0"/>
            <a:ext cx="7644130" cy="6858000"/>
          </a:xfrm>
          <a:prstGeom prst="rect">
            <a:avLst/>
          </a:prstGeom>
        </p:spPr>
      </p:pic>
      <p:pic>
        <p:nvPicPr>
          <p:cNvPr id="10" name="@png2x_01_章节" descr="C:/Users/kingsoft/AppData/Local/Temp/fig2wpp/@png2x_01_章节.png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r:link="rId6"/>
          <a:stretch>
            <a:fillRect/>
          </a:stretch>
        </p:blipFill>
        <p:spPr>
          <a:xfrm>
            <a:off x="438785" y="1398905"/>
            <a:ext cx="6400800" cy="46177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6282687" y="3766947"/>
            <a:ext cx="4933828" cy="2240153"/>
          </a:xfrm>
          <a:noFill/>
        </p:spPr>
        <p:txBody>
          <a:bodyPr wrap="square" anchor="t">
            <a:normAutofit/>
          </a:bodyPr>
          <a:lstStyle>
            <a:lvl1pPr algn="r">
              <a:defRPr sz="34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6282611" y="349251"/>
            <a:ext cx="4934157" cy="3161665"/>
          </a:xfrm>
          <a:noFill/>
        </p:spPr>
        <p:txBody>
          <a:bodyPr wrap="none" anchor="b" anchorCtr="0">
            <a:normAutofit/>
          </a:bodyPr>
          <a:lstStyle>
            <a:lvl1pPr marL="0" indent="0" algn="r">
              <a:buNone/>
              <a:defRPr sz="90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014730" y="331470"/>
            <a:ext cx="10158730" cy="808990"/>
          </a:xfrm>
          <a:noFill/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31470"/>
            <a:ext cx="10800715" cy="737870"/>
          </a:xfrm>
          <a:noFill/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595" y="360045"/>
            <a:ext cx="1079817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0">
                <a:schemeClr val="accent1">
                  <a:alpha val="2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>
                  <a:lumMod val="60000"/>
                  <a:lumOff val="40000"/>
                </a:schemeClr>
              </a:solidFill>
              <a:sym typeface="+mn-lt"/>
            </a:endParaRPr>
          </a:p>
        </p:txBody>
      </p:sp>
      <p:pic>
        <p:nvPicPr>
          <p:cNvPr id="8" name="@png2x_01_结束" descr="C:/Users/kingsoft/AppData/Local/Temp/fig2wpp/@png2x_01_结束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1" y="1272146"/>
            <a:ext cx="6248399" cy="558585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5535930" y="516255"/>
            <a:ext cx="5596890" cy="3023870"/>
          </a:xfrm>
          <a:noFill/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300" b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6339840" y="3610610"/>
            <a:ext cx="4792980" cy="1776095"/>
          </a:xfrm>
          <a:noFill/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2965"/>
            <a:ext cx="10800000" cy="705600"/>
          </a:xfrm>
        </p:spPr>
        <p:txBody>
          <a:bodyPr wrap="square">
            <a:norm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 anchor="b"/>
          <a:lstStyle>
            <a:lvl1pPr algn="l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2965"/>
            <a:ext cx="10800000" cy="7056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heme" Target="../theme/theme3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heme" Target="../theme/theme4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heme" Target="../theme/theme5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heme" Target="../theme/theme6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heme" Target="../theme/theme7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0">
                <a:schemeClr val="accent1">
                  <a:alpha val="2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2"/>
          </a:solidFill>
          <a:latin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0">
                <a:schemeClr val="accent1">
                  <a:alpha val="2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2"/>
          </a:solidFill>
          <a:latin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0">
                <a:schemeClr val="accent1">
                  <a:alpha val="2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2"/>
          </a:solidFill>
          <a:latin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0">
                <a:schemeClr val="accent1">
                  <a:alpha val="2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2"/>
          </a:solidFill>
          <a:latin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0">
                <a:schemeClr val="accent1">
                  <a:alpha val="2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2"/>
          </a:solidFill>
          <a:latin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0">
                <a:schemeClr val="accent1">
                  <a:alpha val="2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b="0" kern="1200">
          <a:solidFill>
            <a:schemeClr val="tx2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b="0" kern="1200">
          <a:solidFill>
            <a:schemeClr val="tx2"/>
          </a:solidFill>
          <a:latin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2"/>
          </a:solidFill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14.xml"/><Relationship Id="rId20" Type="http://schemas.openxmlformats.org/officeDocument/2006/relationships/tags" Target="../tags/tag151.xml"/><Relationship Id="rId2" Type="http://schemas.openxmlformats.org/officeDocument/2006/relationships/tags" Target="../tags/tag133.xml"/><Relationship Id="rId19" Type="http://schemas.openxmlformats.org/officeDocument/2006/relationships/tags" Target="../tags/tag150.xml"/><Relationship Id="rId18" Type="http://schemas.openxmlformats.org/officeDocument/2006/relationships/tags" Target="../tags/tag149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image" Target="../media/image6.jpeg"/><Relationship Id="rId4" Type="http://schemas.openxmlformats.org/officeDocument/2006/relationships/tags" Target="../tags/tag157.xml"/><Relationship Id="rId3" Type="http://schemas.openxmlformats.org/officeDocument/2006/relationships/image" Target="../media/image5.jpeg"/><Relationship Id="rId2" Type="http://schemas.openxmlformats.org/officeDocument/2006/relationships/tags" Target="../tags/tag156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168.xml"/><Relationship Id="rId16" Type="http://schemas.openxmlformats.org/officeDocument/2006/relationships/image" Target="../media/image7.jpeg"/><Relationship Id="rId15" Type="http://schemas.openxmlformats.org/officeDocument/2006/relationships/tags" Target="../tags/tag16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tags" Target="../tags/tag15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image" Target="../media/image8.jpeg"/><Relationship Id="rId2" Type="http://schemas.openxmlformats.org/officeDocument/2006/relationships/tags" Target="../tags/tag170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24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tags" Target="../tags/tag1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image" Target="../media/image11.jpeg"/><Relationship Id="rId6" Type="http://schemas.openxmlformats.org/officeDocument/2006/relationships/tags" Target="../tags/tag183.xml"/><Relationship Id="rId5" Type="http://schemas.openxmlformats.org/officeDocument/2006/relationships/image" Target="../media/image10.jpeg"/><Relationship Id="rId4" Type="http://schemas.openxmlformats.org/officeDocument/2006/relationships/tags" Target="../tags/tag182.xml"/><Relationship Id="rId3" Type="http://schemas.openxmlformats.org/officeDocument/2006/relationships/image" Target="../media/image9.jpeg"/><Relationship Id="rId2" Type="http://schemas.openxmlformats.org/officeDocument/2006/relationships/tags" Target="../tags/tag181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8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image" Target="../media/image12.jpeg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26.xml"/><Relationship Id="rId14" Type="http://schemas.openxmlformats.org/officeDocument/2006/relationships/tags" Target="../tags/tag209.xml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tags" Target="../tags/tag19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image" Target="../media/image6.jpeg"/><Relationship Id="rId4" Type="http://schemas.openxmlformats.org/officeDocument/2006/relationships/tags" Target="../tags/tag212.xml"/><Relationship Id="rId3" Type="http://schemas.openxmlformats.org/officeDocument/2006/relationships/image" Target="../media/image5.jpeg"/><Relationship Id="rId2" Type="http://schemas.openxmlformats.org/officeDocument/2006/relationships/tags" Target="../tags/tag211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223.xml"/><Relationship Id="rId16" Type="http://schemas.openxmlformats.org/officeDocument/2006/relationships/image" Target="../media/image7.jpeg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tags" Target="../tags/tag2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tags" Target="../tags/tag22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image" Target="../media/image6.jpeg"/><Relationship Id="rId4" Type="http://schemas.openxmlformats.org/officeDocument/2006/relationships/tags" Target="../tags/tag230.xml"/><Relationship Id="rId3" Type="http://schemas.openxmlformats.org/officeDocument/2006/relationships/image" Target="../media/image5.jpeg"/><Relationship Id="rId2" Type="http://schemas.openxmlformats.org/officeDocument/2006/relationships/tags" Target="../tags/tag229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241.xml"/><Relationship Id="rId16" Type="http://schemas.openxmlformats.org/officeDocument/2006/relationships/image" Target="../media/image7.jpeg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tags" Target="../tags/tag22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image" Target="../media/image13.jpe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25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tags" Target="../tags/tag24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tags" Target="../tags/tag255.xml"/><Relationship Id="rId5" Type="http://schemas.openxmlformats.org/officeDocument/2006/relationships/image" Target="../media/image6.jpeg"/><Relationship Id="rId4" Type="http://schemas.openxmlformats.org/officeDocument/2006/relationships/tags" Target="../tags/tag254.xml"/><Relationship Id="rId3" Type="http://schemas.openxmlformats.org/officeDocument/2006/relationships/image" Target="../media/image5.jpeg"/><Relationship Id="rId2" Type="http://schemas.openxmlformats.org/officeDocument/2006/relationships/tags" Target="../tags/tag253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265.xml"/><Relationship Id="rId16" Type="http://schemas.openxmlformats.org/officeDocument/2006/relationships/image" Target="../media/image7.jpeg"/><Relationship Id="rId15" Type="http://schemas.openxmlformats.org/officeDocument/2006/relationships/tags" Target="../tags/tag264.xml"/><Relationship Id="rId14" Type="http://schemas.openxmlformats.org/officeDocument/2006/relationships/tags" Target="../tags/tag263.xml"/><Relationship Id="rId13" Type="http://schemas.openxmlformats.org/officeDocument/2006/relationships/tags" Target="../tags/tag262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tags" Target="../tags/tag25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image" Target="../media/image14.jpe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27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tags" Target="../tags/tag26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85.xml"/><Relationship Id="rId8" Type="http://schemas.openxmlformats.org/officeDocument/2006/relationships/tags" Target="../tags/tag284.xml"/><Relationship Id="rId7" Type="http://schemas.openxmlformats.org/officeDocument/2006/relationships/tags" Target="../tags/tag283.xml"/><Relationship Id="rId6" Type="http://schemas.openxmlformats.org/officeDocument/2006/relationships/tags" Target="../tags/tag282.xml"/><Relationship Id="rId5" Type="http://schemas.openxmlformats.org/officeDocument/2006/relationships/image" Target="../media/image6.jpeg"/><Relationship Id="rId4" Type="http://schemas.openxmlformats.org/officeDocument/2006/relationships/tags" Target="../tags/tag281.xml"/><Relationship Id="rId3" Type="http://schemas.openxmlformats.org/officeDocument/2006/relationships/image" Target="../media/image5.jpeg"/><Relationship Id="rId2" Type="http://schemas.openxmlformats.org/officeDocument/2006/relationships/tags" Target="../tags/tag280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292.xml"/><Relationship Id="rId16" Type="http://schemas.openxmlformats.org/officeDocument/2006/relationships/image" Target="../media/image7.jpeg"/><Relationship Id="rId15" Type="http://schemas.openxmlformats.org/officeDocument/2006/relationships/tags" Target="../tags/tag291.xml"/><Relationship Id="rId14" Type="http://schemas.openxmlformats.org/officeDocument/2006/relationships/tags" Target="../tags/tag290.xml"/><Relationship Id="rId13" Type="http://schemas.openxmlformats.org/officeDocument/2006/relationships/tags" Target="../tags/tag289.xml"/><Relationship Id="rId12" Type="http://schemas.openxmlformats.org/officeDocument/2006/relationships/tags" Target="../tags/tag288.xml"/><Relationship Id="rId11" Type="http://schemas.openxmlformats.org/officeDocument/2006/relationships/tags" Target="../tags/tag287.xml"/><Relationship Id="rId10" Type="http://schemas.openxmlformats.org/officeDocument/2006/relationships/tags" Target="../tags/tag286.xml"/><Relationship Id="rId1" Type="http://schemas.openxmlformats.org/officeDocument/2006/relationships/tags" Target="../tags/tag27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tags" Target="../tags/tag29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tags" Target="../tags/tag302.xml"/><Relationship Id="rId7" Type="http://schemas.openxmlformats.org/officeDocument/2006/relationships/tags" Target="../tags/tag301.xml"/><Relationship Id="rId6" Type="http://schemas.openxmlformats.org/officeDocument/2006/relationships/tags" Target="../tags/tag300.xml"/><Relationship Id="rId5" Type="http://schemas.openxmlformats.org/officeDocument/2006/relationships/image" Target="../media/image6.jpeg"/><Relationship Id="rId4" Type="http://schemas.openxmlformats.org/officeDocument/2006/relationships/tags" Target="../tags/tag299.xml"/><Relationship Id="rId3" Type="http://schemas.openxmlformats.org/officeDocument/2006/relationships/image" Target="../media/image5.jpeg"/><Relationship Id="rId2" Type="http://schemas.openxmlformats.org/officeDocument/2006/relationships/tags" Target="../tags/tag298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310.xml"/><Relationship Id="rId16" Type="http://schemas.openxmlformats.org/officeDocument/2006/relationships/image" Target="../media/image7.jpeg"/><Relationship Id="rId15" Type="http://schemas.openxmlformats.org/officeDocument/2006/relationships/tags" Target="../tags/tag309.xml"/><Relationship Id="rId14" Type="http://schemas.openxmlformats.org/officeDocument/2006/relationships/tags" Target="../tags/tag308.xml"/><Relationship Id="rId13" Type="http://schemas.openxmlformats.org/officeDocument/2006/relationships/tags" Target="../tags/tag307.xml"/><Relationship Id="rId12" Type="http://schemas.openxmlformats.org/officeDocument/2006/relationships/tags" Target="../tags/tag306.xml"/><Relationship Id="rId11" Type="http://schemas.openxmlformats.org/officeDocument/2006/relationships/tags" Target="../tags/tag305.xml"/><Relationship Id="rId10" Type="http://schemas.openxmlformats.org/officeDocument/2006/relationships/tags" Target="../tags/tag304.xml"/><Relationship Id="rId1" Type="http://schemas.openxmlformats.org/officeDocument/2006/relationships/tags" Target="../tags/tag29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18.xml"/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image" Target="../media/image15.jpeg"/><Relationship Id="rId2" Type="http://schemas.openxmlformats.org/officeDocument/2006/relationships/tags" Target="../tags/tag312.xml"/><Relationship Id="rId14" Type="http://schemas.openxmlformats.org/officeDocument/2006/relationships/slideLayout" Target="../slideLayouts/slideLayout26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tags" Target="../tags/tag320.xml"/><Relationship Id="rId10" Type="http://schemas.openxmlformats.org/officeDocument/2006/relationships/tags" Target="../tags/tag319.xml"/><Relationship Id="rId1" Type="http://schemas.openxmlformats.org/officeDocument/2006/relationships/tags" Target="../tags/tag31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image" Target="../media/image11.jpeg"/><Relationship Id="rId6" Type="http://schemas.openxmlformats.org/officeDocument/2006/relationships/tags" Target="../tags/tag326.xml"/><Relationship Id="rId5" Type="http://schemas.openxmlformats.org/officeDocument/2006/relationships/image" Target="../media/image10.jpeg"/><Relationship Id="rId4" Type="http://schemas.openxmlformats.org/officeDocument/2006/relationships/tags" Target="../tags/tag325.xml"/><Relationship Id="rId3" Type="http://schemas.openxmlformats.org/officeDocument/2006/relationships/image" Target="../media/image9.jpeg"/><Relationship Id="rId2" Type="http://schemas.openxmlformats.org/officeDocument/2006/relationships/tags" Target="../tags/tag324.xml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336.xml"/><Relationship Id="rId16" Type="http://schemas.openxmlformats.org/officeDocument/2006/relationships/tags" Target="../tags/tag335.xml"/><Relationship Id="rId15" Type="http://schemas.openxmlformats.org/officeDocument/2006/relationships/tags" Target="../tags/tag334.xml"/><Relationship Id="rId14" Type="http://schemas.openxmlformats.org/officeDocument/2006/relationships/tags" Target="../tags/tag333.xml"/><Relationship Id="rId13" Type="http://schemas.openxmlformats.org/officeDocument/2006/relationships/tags" Target="../tags/tag332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tags" Target="../tags/tag32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" Type="http://schemas.openxmlformats.org/officeDocument/2006/relationships/tags" Target="../tags/tag33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image" Target="../media/image16.jpeg"/><Relationship Id="rId2" Type="http://schemas.openxmlformats.org/officeDocument/2006/relationships/tags" Target="../tags/tag341.xml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23.xml"/><Relationship Id="rId10" Type="http://schemas.openxmlformats.org/officeDocument/2006/relationships/tags" Target="../tags/tag348.xml"/><Relationship Id="rId1" Type="http://schemas.openxmlformats.org/officeDocument/2006/relationships/tags" Target="../tags/tag34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55.xml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tags" Target="../tags/tag352.xml"/><Relationship Id="rId5" Type="http://schemas.openxmlformats.org/officeDocument/2006/relationships/image" Target="../media/image6.jpeg"/><Relationship Id="rId4" Type="http://schemas.openxmlformats.org/officeDocument/2006/relationships/tags" Target="../tags/tag351.xml"/><Relationship Id="rId3" Type="http://schemas.openxmlformats.org/officeDocument/2006/relationships/image" Target="../media/image5.jpeg"/><Relationship Id="rId2" Type="http://schemas.openxmlformats.org/officeDocument/2006/relationships/tags" Target="../tags/tag350.xml"/><Relationship Id="rId19" Type="http://schemas.openxmlformats.org/officeDocument/2006/relationships/notesSlide" Target="../notesSlides/notesSlide15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362.xml"/><Relationship Id="rId16" Type="http://schemas.openxmlformats.org/officeDocument/2006/relationships/image" Target="../media/image7.jpeg"/><Relationship Id="rId15" Type="http://schemas.openxmlformats.org/officeDocument/2006/relationships/tags" Target="../tags/tag361.xml"/><Relationship Id="rId14" Type="http://schemas.openxmlformats.org/officeDocument/2006/relationships/tags" Target="../tags/tag360.xml"/><Relationship Id="rId13" Type="http://schemas.openxmlformats.org/officeDocument/2006/relationships/tags" Target="../tags/tag359.xml"/><Relationship Id="rId12" Type="http://schemas.openxmlformats.org/officeDocument/2006/relationships/tags" Target="../tags/tag358.xml"/><Relationship Id="rId11" Type="http://schemas.openxmlformats.org/officeDocument/2006/relationships/tags" Target="../tags/tag357.xml"/><Relationship Id="rId10" Type="http://schemas.openxmlformats.org/officeDocument/2006/relationships/tags" Target="../tags/tag356.xml"/><Relationship Id="rId1" Type="http://schemas.openxmlformats.org/officeDocument/2006/relationships/tags" Target="../tags/tag34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365.xml"/><Relationship Id="rId1" Type="http://schemas.openxmlformats.org/officeDocument/2006/relationships/tags" Target="../tags/tag3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Dubai 10X Innovation (UAE)</a:t>
            </a:r>
            <a:endParaRPr lang="en-US" dirty="0">
              <a:latin typeface="+mj-lt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+mj-lt"/>
              </a:rPr>
              <a:t>Add description</a:t>
            </a:r>
            <a:endParaRPr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838200" y="3631565"/>
            <a:ext cx="5375275" cy="1784350"/>
          </a:xfrm>
        </p:spPr>
        <p:txBody>
          <a:bodyPr wrap="square">
            <a:normAutofit fontScale="85000"/>
          </a:bodyPr>
          <a:lstStyle/>
          <a:p>
            <a:r>
              <a:rPr lang="en-US">
                <a:solidFill>
                  <a:srgbClr val="FFFFFF"/>
                </a:solidFill>
              </a:rPr>
              <a:t>Pratistha Khanal</a:t>
            </a:r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</a:rPr>
              <a:t>Pyblic Service Management II</a:t>
            </a:r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</a:rPr>
              <a:t>Submitted to : Shiva Prasad Acharya </a:t>
            </a:r>
            <a:endParaRPr lang="en-US">
              <a:solidFill>
                <a:srgbClr val="FFFFFF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US"/>
          </a:p>
        </p:txBody>
      </p:sp>
      <p:pic>
        <p:nvPicPr>
          <p:cNvPr id="5" name="@svg!m0_01_项图片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/>
          <a:stretch>
            <a:fillRect/>
          </a:stretch>
        </p:blipFill>
        <p:spPr>
          <a:xfrm>
            <a:off x="4641284" y="2235200"/>
            <a:ext cx="2615859" cy="1906269"/>
          </a:xfrm>
          <a:prstGeom prst="rect">
            <a:avLst/>
          </a:prstGeom>
        </p:spPr>
      </p:pic>
      <p:sp>
        <p:nvSpPr>
          <p:cNvPr id="6" name="序号"/>
          <p:cNvSpPr txBox="1"/>
          <p:nvPr>
            <p:custDataLst>
              <p:tags r:id="rId3"/>
            </p:custDataLst>
          </p:nvPr>
        </p:nvSpPr>
        <p:spPr>
          <a:xfrm>
            <a:off x="4917825" y="2340806"/>
            <a:ext cx="2209964" cy="80706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j-ea"/>
              </a:rPr>
              <a:t>02</a:t>
            </a:r>
            <a:endParaRPr lang="en-US" sz="4800" dirty="0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7" name="项标题"/>
          <p:cNvSpPr txBox="1"/>
          <p:nvPr>
            <p:custDataLst>
              <p:tags r:id="rId4"/>
            </p:custDataLst>
          </p:nvPr>
        </p:nvSpPr>
        <p:spPr>
          <a:xfrm>
            <a:off x="4992198" y="3198871"/>
            <a:ext cx="2808000" cy="10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chemeClr val="dk1">
                    <a:lumMod val="100000"/>
                  </a:schemeClr>
                </a:solidFill>
                <a:latin typeface="+mj-lt"/>
              </a:rPr>
              <a:t>Emerging Technologies</a:t>
            </a:r>
            <a:endParaRPr lang="en-US" sz="2000" dirty="0">
              <a:solidFill>
                <a:schemeClr val="dk1">
                  <a:lumMod val="100000"/>
                </a:schemeClr>
              </a:solidFill>
              <a:latin typeface="+mj-lt"/>
            </a:endParaRPr>
          </a:p>
        </p:txBody>
      </p:sp>
      <p:pic>
        <p:nvPicPr>
          <p:cNvPr id="19" name="@svg!m0_01_项图片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/>
          <a:stretch>
            <a:fillRect/>
          </a:stretch>
        </p:blipFill>
        <p:spPr>
          <a:xfrm>
            <a:off x="8047055" y="4601035"/>
            <a:ext cx="2615859" cy="1906269"/>
          </a:xfrm>
          <a:prstGeom prst="rect">
            <a:avLst/>
          </a:prstGeom>
        </p:spPr>
      </p:pic>
      <p:sp>
        <p:nvSpPr>
          <p:cNvPr id="20" name="序号"/>
          <p:cNvSpPr txBox="1"/>
          <p:nvPr>
            <p:custDataLst>
              <p:tags r:id="rId6"/>
            </p:custDataLst>
          </p:nvPr>
        </p:nvSpPr>
        <p:spPr>
          <a:xfrm>
            <a:off x="8323596" y="4573291"/>
            <a:ext cx="2209964" cy="80706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j-ea"/>
              </a:rPr>
              <a:t>06</a:t>
            </a:r>
            <a:endParaRPr lang="en-US" sz="4800" dirty="0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21" name="项标题"/>
          <p:cNvSpPr txBox="1"/>
          <p:nvPr>
            <p:custDataLst>
              <p:tags r:id="rId7"/>
            </p:custDataLst>
          </p:nvPr>
        </p:nvSpPr>
        <p:spPr>
          <a:xfrm>
            <a:off x="8323596" y="5431356"/>
            <a:ext cx="2808000" cy="10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chemeClr val="dk1">
                    <a:lumMod val="100000"/>
                  </a:schemeClr>
                </a:solidFill>
                <a:latin typeface="+mj-lt"/>
              </a:rPr>
              <a:t>Global Partnerships</a:t>
            </a:r>
            <a:endParaRPr lang="en-US" sz="2000" dirty="0">
              <a:solidFill>
                <a:schemeClr val="dk1">
                  <a:lumMod val="100000"/>
                </a:schemeClr>
              </a:solidFill>
              <a:latin typeface="+mj-lt"/>
            </a:endParaRPr>
          </a:p>
        </p:txBody>
      </p:sp>
      <p:pic>
        <p:nvPicPr>
          <p:cNvPr id="23" name="@svg!m0_01_项图片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/>
          <a:stretch>
            <a:fillRect/>
          </a:stretch>
        </p:blipFill>
        <p:spPr>
          <a:xfrm>
            <a:off x="1235513" y="2233567"/>
            <a:ext cx="2615859" cy="1906269"/>
          </a:xfrm>
          <a:prstGeom prst="rect">
            <a:avLst/>
          </a:prstGeom>
        </p:spPr>
      </p:pic>
      <p:sp>
        <p:nvSpPr>
          <p:cNvPr id="24" name="序号"/>
          <p:cNvSpPr txBox="1"/>
          <p:nvPr>
            <p:custDataLst>
              <p:tags r:id="rId9"/>
            </p:custDataLst>
          </p:nvPr>
        </p:nvSpPr>
        <p:spPr>
          <a:xfrm>
            <a:off x="1512054" y="2339173"/>
            <a:ext cx="2209964" cy="80706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j-ea"/>
              </a:rPr>
              <a:t>01</a:t>
            </a:r>
            <a:endParaRPr lang="en-US" sz="4800" dirty="0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25" name="项标题"/>
          <p:cNvSpPr txBox="1"/>
          <p:nvPr>
            <p:custDataLst>
              <p:tags r:id="rId10"/>
            </p:custDataLst>
          </p:nvPr>
        </p:nvSpPr>
        <p:spPr>
          <a:xfrm>
            <a:off x="1586427" y="3197238"/>
            <a:ext cx="2808000" cy="10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chemeClr val="dk1">
                    <a:lumMod val="100000"/>
                  </a:schemeClr>
                </a:solidFill>
                <a:latin typeface="+mj-lt"/>
              </a:rPr>
              <a:t>Dubai 10X Initiative</a:t>
            </a:r>
            <a:endParaRPr lang="en-US" sz="2000" dirty="0">
              <a:solidFill>
                <a:schemeClr val="dk1">
                  <a:lumMod val="100000"/>
                </a:schemeClr>
              </a:solidFill>
              <a:latin typeface="+mj-lt"/>
            </a:endParaRPr>
          </a:p>
        </p:txBody>
      </p:sp>
      <p:pic>
        <p:nvPicPr>
          <p:cNvPr id="27" name="@svg!m0_01_项图片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/>
          <a:stretch>
            <a:fillRect/>
          </a:stretch>
        </p:blipFill>
        <p:spPr>
          <a:xfrm>
            <a:off x="8047055" y="2233567"/>
            <a:ext cx="2615859" cy="1906269"/>
          </a:xfrm>
          <a:prstGeom prst="rect">
            <a:avLst/>
          </a:prstGeom>
        </p:spPr>
      </p:pic>
      <p:sp>
        <p:nvSpPr>
          <p:cNvPr id="28" name="序号"/>
          <p:cNvSpPr txBox="1"/>
          <p:nvPr>
            <p:custDataLst>
              <p:tags r:id="rId12"/>
            </p:custDataLst>
          </p:nvPr>
        </p:nvSpPr>
        <p:spPr>
          <a:xfrm>
            <a:off x="8323596" y="2339173"/>
            <a:ext cx="2209964" cy="80706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j-ea"/>
              </a:rPr>
              <a:t>03</a:t>
            </a:r>
            <a:endParaRPr lang="en-US" sz="4800" dirty="0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29" name="项标题"/>
          <p:cNvSpPr txBox="1"/>
          <p:nvPr>
            <p:custDataLst>
              <p:tags r:id="rId13"/>
            </p:custDataLst>
          </p:nvPr>
        </p:nvSpPr>
        <p:spPr>
          <a:xfrm>
            <a:off x="8323596" y="3197238"/>
            <a:ext cx="2808000" cy="10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chemeClr val="dk1">
                    <a:lumMod val="100000"/>
                  </a:schemeClr>
                </a:solidFill>
                <a:latin typeface="+mj-lt"/>
              </a:rPr>
              <a:t>Driving Economic Growth</a:t>
            </a:r>
            <a:endParaRPr lang="en-US" sz="2000" dirty="0">
              <a:solidFill>
                <a:schemeClr val="dk1">
                  <a:lumMod val="100000"/>
                </a:schemeClr>
              </a:solidFill>
              <a:latin typeface="+mj-lt"/>
            </a:endParaRPr>
          </a:p>
        </p:txBody>
      </p:sp>
      <p:pic>
        <p:nvPicPr>
          <p:cNvPr id="4" name="@svg!m0_01_项图片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/>
          <a:stretch>
            <a:fillRect/>
          </a:stretch>
        </p:blipFill>
        <p:spPr>
          <a:xfrm>
            <a:off x="1252807" y="4601035"/>
            <a:ext cx="2615859" cy="1906269"/>
          </a:xfrm>
          <a:prstGeom prst="rect">
            <a:avLst/>
          </a:prstGeom>
        </p:spPr>
      </p:pic>
      <p:sp>
        <p:nvSpPr>
          <p:cNvPr id="8" name="序号"/>
          <p:cNvSpPr txBox="1"/>
          <p:nvPr>
            <p:custDataLst>
              <p:tags r:id="rId15"/>
            </p:custDataLst>
          </p:nvPr>
        </p:nvSpPr>
        <p:spPr>
          <a:xfrm>
            <a:off x="1529348" y="4573291"/>
            <a:ext cx="2209964" cy="80706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j-ea"/>
              </a:rPr>
              <a:t>04</a:t>
            </a:r>
            <a:endParaRPr lang="en-US" sz="4800" dirty="0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9" name="项标题"/>
          <p:cNvSpPr txBox="1"/>
          <p:nvPr>
            <p:custDataLst>
              <p:tags r:id="rId16"/>
            </p:custDataLst>
          </p:nvPr>
        </p:nvSpPr>
        <p:spPr>
          <a:xfrm>
            <a:off x="1529348" y="5431356"/>
            <a:ext cx="2808000" cy="10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chemeClr val="dk1">
                    <a:lumMod val="100000"/>
                  </a:schemeClr>
                </a:solidFill>
                <a:latin typeface="+mj-lt"/>
              </a:rPr>
              <a:t>Talent Development</a:t>
            </a:r>
            <a:endParaRPr lang="en-US" sz="2000" dirty="0">
              <a:solidFill>
                <a:schemeClr val="dk1">
                  <a:lumMod val="100000"/>
                </a:schemeClr>
              </a:solidFill>
              <a:latin typeface="+mj-lt"/>
            </a:endParaRPr>
          </a:p>
        </p:txBody>
      </p:sp>
      <p:pic>
        <p:nvPicPr>
          <p:cNvPr id="11" name="@svg!m0_01_项图片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/>
          <a:stretch>
            <a:fillRect/>
          </a:stretch>
        </p:blipFill>
        <p:spPr>
          <a:xfrm>
            <a:off x="4649931" y="4601035"/>
            <a:ext cx="2615859" cy="1906269"/>
          </a:xfrm>
          <a:prstGeom prst="rect">
            <a:avLst/>
          </a:prstGeom>
        </p:spPr>
      </p:pic>
      <p:sp>
        <p:nvSpPr>
          <p:cNvPr id="12" name="序号"/>
          <p:cNvSpPr txBox="1"/>
          <p:nvPr>
            <p:custDataLst>
              <p:tags r:id="rId18"/>
            </p:custDataLst>
          </p:nvPr>
        </p:nvSpPr>
        <p:spPr>
          <a:xfrm>
            <a:off x="4926472" y="4573291"/>
            <a:ext cx="2209964" cy="80706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4800" dirty="0">
                <a:solidFill>
                  <a:schemeClr val="accent1"/>
                </a:solidFill>
                <a:latin typeface="+mj-ea"/>
              </a:rPr>
              <a:t>05</a:t>
            </a:r>
            <a:endParaRPr lang="en-US" sz="4800" dirty="0">
              <a:solidFill>
                <a:schemeClr val="accent1"/>
              </a:solidFill>
              <a:latin typeface="+mj-ea"/>
            </a:endParaRPr>
          </a:p>
        </p:txBody>
      </p:sp>
      <p:sp>
        <p:nvSpPr>
          <p:cNvPr id="13" name="项标题"/>
          <p:cNvSpPr txBox="1"/>
          <p:nvPr>
            <p:custDataLst>
              <p:tags r:id="rId19"/>
            </p:custDataLst>
          </p:nvPr>
        </p:nvSpPr>
        <p:spPr>
          <a:xfrm>
            <a:off x="4926472" y="5431356"/>
            <a:ext cx="2808000" cy="10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chemeClr val="dk1">
                    <a:lumMod val="100000"/>
                  </a:schemeClr>
                </a:solidFill>
                <a:latin typeface="+mj-lt"/>
              </a:rPr>
              <a:t>Sustainability and Smart Cities</a:t>
            </a:r>
            <a:endParaRPr lang="en-US" sz="2000" dirty="0">
              <a:solidFill>
                <a:schemeClr val="dk1">
                  <a:lumMod val="100000"/>
                </a:schemeClr>
              </a:solidFill>
              <a:latin typeface="+mj-lt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+mj-lt"/>
              </a:rPr>
              <a:t>Dubai 10X Initiative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01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Accelerating Innovation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Leveraging cutting-edge technologies to transform Dubai into a global innovation hub.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Pioneering Smart City Solutions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Empowering startups and SMEs to drive sustainable economic growth.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Fostering Entrepreneurship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Adopting emerging technologies to future-proof Dubai's infrastructure and services.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Embracing Disruptive Technologies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>
            <p:custDataLst>
              <p:tags r:id="rId1"/>
            </p:custDataLst>
          </p:nvPr>
        </p:nvSpPr>
        <p:spPr>
          <a:xfrm rot="21342100">
            <a:off x="7469116" y="1289275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3025" y="339208"/>
                </a:moveTo>
                <a:lnTo>
                  <a:pt x="273025" y="3588875"/>
                </a:lnTo>
                <a:lnTo>
                  <a:pt x="3353850" y="3588875"/>
                </a:lnTo>
                <a:lnTo>
                  <a:pt x="3353850" y="339208"/>
                </a:lnTo>
                <a:lnTo>
                  <a:pt x="273025" y="339208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图片 16" descr="盘子里的食物和咖啡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9" t="19531" r="3019" b="9535"/>
          <a:stretch>
            <a:fillRect/>
          </a:stretch>
        </p:blipFill>
        <p:spPr>
          <a:xfrm rot="157750">
            <a:off x="7545194" y="1431901"/>
            <a:ext cx="3474720" cy="4417255"/>
          </a:xfrm>
          <a:custGeom>
            <a:avLst/>
            <a:gdLst>
              <a:gd name="connsiteX0" fmla="*/ 0 w 3474720"/>
              <a:gd name="connsiteY0" fmla="*/ 0 h 4417255"/>
              <a:gd name="connsiteX1" fmla="*/ 3474720 w 3474720"/>
              <a:gd name="connsiteY1" fmla="*/ 0 h 4417255"/>
              <a:gd name="connsiteX2" fmla="*/ 3474720 w 3474720"/>
              <a:gd name="connsiteY2" fmla="*/ 4417255 h 4417255"/>
              <a:gd name="connsiteX3" fmla="*/ 0 w 3474720"/>
              <a:gd name="connsiteY3" fmla="*/ 4417255 h 441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4720" h="4417255">
                <a:moveTo>
                  <a:pt x="0" y="0"/>
                </a:moveTo>
                <a:lnTo>
                  <a:pt x="3474720" y="0"/>
                </a:lnTo>
                <a:lnTo>
                  <a:pt x="3474720" y="4417255"/>
                </a:lnTo>
                <a:lnTo>
                  <a:pt x="0" y="4417255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103312" y="1165300"/>
            <a:ext cx="5325479" cy="1223570"/>
          </a:xfrm>
        </p:spPr>
        <p:txBody>
          <a:bodyPr wrap="square" lIns="0" tIns="0" rIns="0" bIns="0" anchor="b" anchorCtr="0">
            <a:normAutofit/>
          </a:bodyPr>
          <a:lstStyle/>
          <a:p>
            <a:pPr algn="l"/>
            <a:r>
              <a:rPr lang="en-US" spc="0" dirty="0">
                <a:latin typeface="+mj-lt"/>
              </a:rPr>
              <a:t>Transforming Government</a:t>
            </a:r>
            <a:endParaRPr lang="en-US" spc="0" dirty="0">
              <a:latin typeface="+mj-lt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 rot="157750">
            <a:off x="7469117" y="1359003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  <a:gd name="connsiteX0-1" fmla="*/ 51465 w 3626875"/>
              <a:gd name="connsiteY0-2" fmla="*/ 0 h 4563048"/>
              <a:gd name="connsiteX1-3" fmla="*/ 3575410 w 3626875"/>
              <a:gd name="connsiteY1-4" fmla="*/ 0 h 4563048"/>
              <a:gd name="connsiteX2-5" fmla="*/ 3626875 w 3626875"/>
              <a:gd name="connsiteY2-6" fmla="*/ 51465 h 4563048"/>
              <a:gd name="connsiteX3-7" fmla="*/ 3626875 w 3626875"/>
              <a:gd name="connsiteY3-8" fmla="*/ 4511583 h 4563048"/>
              <a:gd name="connsiteX4-9" fmla="*/ 3575410 w 3626875"/>
              <a:gd name="connsiteY4-10" fmla="*/ 4563048 h 4563048"/>
              <a:gd name="connsiteX5-11" fmla="*/ 51465 w 3626875"/>
              <a:gd name="connsiteY5-12" fmla="*/ 4563048 h 4563048"/>
              <a:gd name="connsiteX6-13" fmla="*/ 0 w 3626875"/>
              <a:gd name="connsiteY6-14" fmla="*/ 4511583 h 4563048"/>
              <a:gd name="connsiteX7-15" fmla="*/ 0 w 3626875"/>
              <a:gd name="connsiteY7-16" fmla="*/ 51465 h 4563048"/>
              <a:gd name="connsiteX8-17" fmla="*/ 51465 w 3626875"/>
              <a:gd name="connsiteY8-18" fmla="*/ 0 h 4563048"/>
              <a:gd name="connsiteX9-19" fmla="*/ 273025 w 3626875"/>
              <a:gd name="connsiteY9-20" fmla="*/ 339208 h 4563048"/>
              <a:gd name="connsiteX10-21" fmla="*/ 273240 w 3626875"/>
              <a:gd name="connsiteY10-22" fmla="*/ 4053589 h 4563048"/>
              <a:gd name="connsiteX11-23" fmla="*/ 3353850 w 3626875"/>
              <a:gd name="connsiteY11-24" fmla="*/ 3588875 h 4563048"/>
              <a:gd name="connsiteX12-25" fmla="*/ 3353850 w 3626875"/>
              <a:gd name="connsiteY12-26" fmla="*/ 339208 h 4563048"/>
              <a:gd name="connsiteX13-27" fmla="*/ 273025 w 3626875"/>
              <a:gd name="connsiteY13-28" fmla="*/ 339208 h 4563048"/>
              <a:gd name="connsiteX0-29" fmla="*/ 51465 w 3626875"/>
              <a:gd name="connsiteY0-30" fmla="*/ 0 h 4563048"/>
              <a:gd name="connsiteX1-31" fmla="*/ 3575410 w 3626875"/>
              <a:gd name="connsiteY1-32" fmla="*/ 0 h 4563048"/>
              <a:gd name="connsiteX2-33" fmla="*/ 3626875 w 3626875"/>
              <a:gd name="connsiteY2-34" fmla="*/ 51465 h 4563048"/>
              <a:gd name="connsiteX3-35" fmla="*/ 3626875 w 3626875"/>
              <a:gd name="connsiteY3-36" fmla="*/ 4511583 h 4563048"/>
              <a:gd name="connsiteX4-37" fmla="*/ 3575410 w 3626875"/>
              <a:gd name="connsiteY4-38" fmla="*/ 4563048 h 4563048"/>
              <a:gd name="connsiteX5-39" fmla="*/ 51465 w 3626875"/>
              <a:gd name="connsiteY5-40" fmla="*/ 4563048 h 4563048"/>
              <a:gd name="connsiteX6-41" fmla="*/ 0 w 3626875"/>
              <a:gd name="connsiteY6-42" fmla="*/ 4511583 h 4563048"/>
              <a:gd name="connsiteX7-43" fmla="*/ 0 w 3626875"/>
              <a:gd name="connsiteY7-44" fmla="*/ 51465 h 4563048"/>
              <a:gd name="connsiteX8-45" fmla="*/ 51465 w 3626875"/>
              <a:gd name="connsiteY8-46" fmla="*/ 0 h 4563048"/>
              <a:gd name="connsiteX9-47" fmla="*/ 273025 w 3626875"/>
              <a:gd name="connsiteY9-48" fmla="*/ 339208 h 4563048"/>
              <a:gd name="connsiteX10-49" fmla="*/ 274782 w 3626875"/>
              <a:gd name="connsiteY10-50" fmla="*/ 3933816 h 4563048"/>
              <a:gd name="connsiteX11-51" fmla="*/ 3353850 w 3626875"/>
              <a:gd name="connsiteY11-52" fmla="*/ 3588875 h 4563048"/>
              <a:gd name="connsiteX12-53" fmla="*/ 3353850 w 3626875"/>
              <a:gd name="connsiteY12-54" fmla="*/ 339208 h 4563048"/>
              <a:gd name="connsiteX13-55" fmla="*/ 273025 w 3626875"/>
              <a:gd name="connsiteY13-56" fmla="*/ 339208 h 4563048"/>
              <a:gd name="connsiteX0-57" fmla="*/ 51465 w 3626875"/>
              <a:gd name="connsiteY0-58" fmla="*/ 0 h 4563048"/>
              <a:gd name="connsiteX1-59" fmla="*/ 3575410 w 3626875"/>
              <a:gd name="connsiteY1-60" fmla="*/ 0 h 4563048"/>
              <a:gd name="connsiteX2-61" fmla="*/ 3626875 w 3626875"/>
              <a:gd name="connsiteY2-62" fmla="*/ 51465 h 4563048"/>
              <a:gd name="connsiteX3-63" fmla="*/ 3626875 w 3626875"/>
              <a:gd name="connsiteY3-64" fmla="*/ 4511583 h 4563048"/>
              <a:gd name="connsiteX4-65" fmla="*/ 3575410 w 3626875"/>
              <a:gd name="connsiteY4-66" fmla="*/ 4563048 h 4563048"/>
              <a:gd name="connsiteX5-67" fmla="*/ 51465 w 3626875"/>
              <a:gd name="connsiteY5-68" fmla="*/ 4563048 h 4563048"/>
              <a:gd name="connsiteX6-69" fmla="*/ 0 w 3626875"/>
              <a:gd name="connsiteY6-70" fmla="*/ 4511583 h 4563048"/>
              <a:gd name="connsiteX7-71" fmla="*/ 0 w 3626875"/>
              <a:gd name="connsiteY7-72" fmla="*/ 51465 h 4563048"/>
              <a:gd name="connsiteX8-73" fmla="*/ 51465 w 3626875"/>
              <a:gd name="connsiteY8-74" fmla="*/ 0 h 4563048"/>
              <a:gd name="connsiteX9-75" fmla="*/ 273025 w 3626875"/>
              <a:gd name="connsiteY9-76" fmla="*/ 339208 h 4563048"/>
              <a:gd name="connsiteX10-77" fmla="*/ 274782 w 3626875"/>
              <a:gd name="connsiteY10-78" fmla="*/ 3933816 h 4563048"/>
              <a:gd name="connsiteX11-79" fmla="*/ 3356577 w 3626875"/>
              <a:gd name="connsiteY11-80" fmla="*/ 3954896 h 4563048"/>
              <a:gd name="connsiteX12-81" fmla="*/ 3353850 w 3626875"/>
              <a:gd name="connsiteY12-82" fmla="*/ 339208 h 4563048"/>
              <a:gd name="connsiteX13-83" fmla="*/ 273025 w 3626875"/>
              <a:gd name="connsiteY13-84" fmla="*/ 339208 h 4563048"/>
              <a:gd name="connsiteX0-85" fmla="*/ 51465 w 3626875"/>
              <a:gd name="connsiteY0-86" fmla="*/ 0 h 4563048"/>
              <a:gd name="connsiteX1-87" fmla="*/ 3575410 w 3626875"/>
              <a:gd name="connsiteY1-88" fmla="*/ 0 h 4563048"/>
              <a:gd name="connsiteX2-89" fmla="*/ 3626875 w 3626875"/>
              <a:gd name="connsiteY2-90" fmla="*/ 51465 h 4563048"/>
              <a:gd name="connsiteX3-91" fmla="*/ 3626875 w 3626875"/>
              <a:gd name="connsiteY3-92" fmla="*/ 4511583 h 4563048"/>
              <a:gd name="connsiteX4-93" fmla="*/ 3575410 w 3626875"/>
              <a:gd name="connsiteY4-94" fmla="*/ 4563048 h 4563048"/>
              <a:gd name="connsiteX5-95" fmla="*/ 51465 w 3626875"/>
              <a:gd name="connsiteY5-96" fmla="*/ 4563048 h 4563048"/>
              <a:gd name="connsiteX6-97" fmla="*/ 0 w 3626875"/>
              <a:gd name="connsiteY6-98" fmla="*/ 4511583 h 4563048"/>
              <a:gd name="connsiteX7-99" fmla="*/ 0 w 3626875"/>
              <a:gd name="connsiteY7-100" fmla="*/ 51465 h 4563048"/>
              <a:gd name="connsiteX8-101" fmla="*/ 51465 w 3626875"/>
              <a:gd name="connsiteY8-102" fmla="*/ 0 h 4563048"/>
              <a:gd name="connsiteX9-103" fmla="*/ 275535 w 3626875"/>
              <a:gd name="connsiteY9-104" fmla="*/ 240515 h 4563048"/>
              <a:gd name="connsiteX10-105" fmla="*/ 274782 w 3626875"/>
              <a:gd name="connsiteY10-106" fmla="*/ 3933816 h 4563048"/>
              <a:gd name="connsiteX11-107" fmla="*/ 3356577 w 3626875"/>
              <a:gd name="connsiteY11-108" fmla="*/ 3954896 h 4563048"/>
              <a:gd name="connsiteX12-109" fmla="*/ 3353850 w 3626875"/>
              <a:gd name="connsiteY12-110" fmla="*/ 339208 h 4563048"/>
              <a:gd name="connsiteX13-111" fmla="*/ 275535 w 3626875"/>
              <a:gd name="connsiteY13-112" fmla="*/ 240515 h 4563048"/>
              <a:gd name="connsiteX0-113" fmla="*/ 51465 w 3626875"/>
              <a:gd name="connsiteY0-114" fmla="*/ 0 h 4563048"/>
              <a:gd name="connsiteX1-115" fmla="*/ 3575410 w 3626875"/>
              <a:gd name="connsiteY1-116" fmla="*/ 0 h 4563048"/>
              <a:gd name="connsiteX2-117" fmla="*/ 3626875 w 3626875"/>
              <a:gd name="connsiteY2-118" fmla="*/ 51465 h 4563048"/>
              <a:gd name="connsiteX3-119" fmla="*/ 3626875 w 3626875"/>
              <a:gd name="connsiteY3-120" fmla="*/ 4511583 h 4563048"/>
              <a:gd name="connsiteX4-121" fmla="*/ 3575410 w 3626875"/>
              <a:gd name="connsiteY4-122" fmla="*/ 4563048 h 4563048"/>
              <a:gd name="connsiteX5-123" fmla="*/ 51465 w 3626875"/>
              <a:gd name="connsiteY5-124" fmla="*/ 4563048 h 4563048"/>
              <a:gd name="connsiteX6-125" fmla="*/ 0 w 3626875"/>
              <a:gd name="connsiteY6-126" fmla="*/ 4511583 h 4563048"/>
              <a:gd name="connsiteX7-127" fmla="*/ 0 w 3626875"/>
              <a:gd name="connsiteY7-128" fmla="*/ 51465 h 4563048"/>
              <a:gd name="connsiteX8-129" fmla="*/ 51465 w 3626875"/>
              <a:gd name="connsiteY8-130" fmla="*/ 0 h 4563048"/>
              <a:gd name="connsiteX9-131" fmla="*/ 275535 w 3626875"/>
              <a:gd name="connsiteY9-132" fmla="*/ 240515 h 4563048"/>
              <a:gd name="connsiteX10-133" fmla="*/ 274782 w 3626875"/>
              <a:gd name="connsiteY10-134" fmla="*/ 3933816 h 4563048"/>
              <a:gd name="connsiteX11-135" fmla="*/ 3356577 w 3626875"/>
              <a:gd name="connsiteY11-136" fmla="*/ 3954896 h 4563048"/>
              <a:gd name="connsiteX12-137" fmla="*/ 3349333 w 3626875"/>
              <a:gd name="connsiteY12-138" fmla="*/ 240838 h 4563048"/>
              <a:gd name="connsiteX13-139" fmla="*/ 275535 w 3626875"/>
              <a:gd name="connsiteY13-140" fmla="*/ 240515 h 4563048"/>
              <a:gd name="connsiteX0-141" fmla="*/ 51465 w 3626875"/>
              <a:gd name="connsiteY0-142" fmla="*/ 0 h 4563048"/>
              <a:gd name="connsiteX1-143" fmla="*/ 3575410 w 3626875"/>
              <a:gd name="connsiteY1-144" fmla="*/ 0 h 4563048"/>
              <a:gd name="connsiteX2-145" fmla="*/ 3626875 w 3626875"/>
              <a:gd name="connsiteY2-146" fmla="*/ 51465 h 4563048"/>
              <a:gd name="connsiteX3-147" fmla="*/ 3626875 w 3626875"/>
              <a:gd name="connsiteY3-148" fmla="*/ 4511583 h 4563048"/>
              <a:gd name="connsiteX4-149" fmla="*/ 3575410 w 3626875"/>
              <a:gd name="connsiteY4-150" fmla="*/ 4563048 h 4563048"/>
              <a:gd name="connsiteX5-151" fmla="*/ 51465 w 3626875"/>
              <a:gd name="connsiteY5-152" fmla="*/ 4563048 h 4563048"/>
              <a:gd name="connsiteX6-153" fmla="*/ 0 w 3626875"/>
              <a:gd name="connsiteY6-154" fmla="*/ 4511583 h 4563048"/>
              <a:gd name="connsiteX7-155" fmla="*/ 0 w 3626875"/>
              <a:gd name="connsiteY7-156" fmla="*/ 51465 h 4563048"/>
              <a:gd name="connsiteX8-157" fmla="*/ 51465 w 3626875"/>
              <a:gd name="connsiteY8-158" fmla="*/ 0 h 4563048"/>
              <a:gd name="connsiteX9-159" fmla="*/ 275535 w 3626875"/>
              <a:gd name="connsiteY9-160" fmla="*/ 240515 h 4563048"/>
              <a:gd name="connsiteX10-161" fmla="*/ 274782 w 3626875"/>
              <a:gd name="connsiteY10-162" fmla="*/ 3933816 h 4563048"/>
              <a:gd name="connsiteX11-163" fmla="*/ 3356577 w 3626875"/>
              <a:gd name="connsiteY11-164" fmla="*/ 3954896 h 4563048"/>
              <a:gd name="connsiteX12-165" fmla="*/ 3351269 w 3626875"/>
              <a:gd name="connsiteY12-166" fmla="*/ 282996 h 4563048"/>
              <a:gd name="connsiteX13-167" fmla="*/ 275535 w 3626875"/>
              <a:gd name="connsiteY13-168" fmla="*/ 240515 h 4563048"/>
              <a:gd name="connsiteX0-169" fmla="*/ 51465 w 3626875"/>
              <a:gd name="connsiteY0-170" fmla="*/ 0 h 4563048"/>
              <a:gd name="connsiteX1-171" fmla="*/ 3575410 w 3626875"/>
              <a:gd name="connsiteY1-172" fmla="*/ 0 h 4563048"/>
              <a:gd name="connsiteX2-173" fmla="*/ 3626875 w 3626875"/>
              <a:gd name="connsiteY2-174" fmla="*/ 51465 h 4563048"/>
              <a:gd name="connsiteX3-175" fmla="*/ 3626875 w 3626875"/>
              <a:gd name="connsiteY3-176" fmla="*/ 4511583 h 4563048"/>
              <a:gd name="connsiteX4-177" fmla="*/ 3575410 w 3626875"/>
              <a:gd name="connsiteY4-178" fmla="*/ 4563048 h 4563048"/>
              <a:gd name="connsiteX5-179" fmla="*/ 51465 w 3626875"/>
              <a:gd name="connsiteY5-180" fmla="*/ 4563048 h 4563048"/>
              <a:gd name="connsiteX6-181" fmla="*/ 0 w 3626875"/>
              <a:gd name="connsiteY6-182" fmla="*/ 4511583 h 4563048"/>
              <a:gd name="connsiteX7-183" fmla="*/ 0 w 3626875"/>
              <a:gd name="connsiteY7-184" fmla="*/ 51465 h 4563048"/>
              <a:gd name="connsiteX8-185" fmla="*/ 51465 w 3626875"/>
              <a:gd name="connsiteY8-186" fmla="*/ 0 h 4563048"/>
              <a:gd name="connsiteX9-187" fmla="*/ 275535 w 3626875"/>
              <a:gd name="connsiteY9-188" fmla="*/ 240515 h 4563048"/>
              <a:gd name="connsiteX10-189" fmla="*/ 279550 w 3626875"/>
              <a:gd name="connsiteY10-190" fmla="*/ 3884310 h 4563048"/>
              <a:gd name="connsiteX11-191" fmla="*/ 3356577 w 3626875"/>
              <a:gd name="connsiteY11-192" fmla="*/ 3954896 h 4563048"/>
              <a:gd name="connsiteX12-193" fmla="*/ 3351269 w 3626875"/>
              <a:gd name="connsiteY12-194" fmla="*/ 282996 h 4563048"/>
              <a:gd name="connsiteX13-195" fmla="*/ 275535 w 3626875"/>
              <a:gd name="connsiteY13-196" fmla="*/ 240515 h 4563048"/>
              <a:gd name="connsiteX0-197" fmla="*/ 51465 w 3626875"/>
              <a:gd name="connsiteY0-198" fmla="*/ 0 h 4563048"/>
              <a:gd name="connsiteX1-199" fmla="*/ 3575410 w 3626875"/>
              <a:gd name="connsiteY1-200" fmla="*/ 0 h 4563048"/>
              <a:gd name="connsiteX2-201" fmla="*/ 3626875 w 3626875"/>
              <a:gd name="connsiteY2-202" fmla="*/ 51465 h 4563048"/>
              <a:gd name="connsiteX3-203" fmla="*/ 3626875 w 3626875"/>
              <a:gd name="connsiteY3-204" fmla="*/ 4511583 h 4563048"/>
              <a:gd name="connsiteX4-205" fmla="*/ 3575410 w 3626875"/>
              <a:gd name="connsiteY4-206" fmla="*/ 4563048 h 4563048"/>
              <a:gd name="connsiteX5-207" fmla="*/ 51465 w 3626875"/>
              <a:gd name="connsiteY5-208" fmla="*/ 4563048 h 4563048"/>
              <a:gd name="connsiteX6-209" fmla="*/ 0 w 3626875"/>
              <a:gd name="connsiteY6-210" fmla="*/ 4511583 h 4563048"/>
              <a:gd name="connsiteX7-211" fmla="*/ 0 w 3626875"/>
              <a:gd name="connsiteY7-212" fmla="*/ 51465 h 4563048"/>
              <a:gd name="connsiteX8-213" fmla="*/ 51465 w 3626875"/>
              <a:gd name="connsiteY8-214" fmla="*/ 0 h 4563048"/>
              <a:gd name="connsiteX9-215" fmla="*/ 275535 w 3626875"/>
              <a:gd name="connsiteY9-216" fmla="*/ 240515 h 4563048"/>
              <a:gd name="connsiteX10-217" fmla="*/ 279550 w 3626875"/>
              <a:gd name="connsiteY10-218" fmla="*/ 3884310 h 4563048"/>
              <a:gd name="connsiteX11-219" fmla="*/ 3353996 w 3626875"/>
              <a:gd name="connsiteY11-220" fmla="*/ 3898684 h 4563048"/>
              <a:gd name="connsiteX12-221" fmla="*/ 3351269 w 3626875"/>
              <a:gd name="connsiteY12-222" fmla="*/ 282996 h 4563048"/>
              <a:gd name="connsiteX13-223" fmla="*/ 275535 w 3626875"/>
              <a:gd name="connsiteY13-224" fmla="*/ 240515 h 45630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5535" y="240515"/>
                </a:moveTo>
                <a:cubicBezTo>
                  <a:pt x="275607" y="1478642"/>
                  <a:pt x="279478" y="2646183"/>
                  <a:pt x="279550" y="3884310"/>
                </a:cubicBezTo>
                <a:lnTo>
                  <a:pt x="3353996" y="3898684"/>
                </a:lnTo>
                <a:cubicBezTo>
                  <a:pt x="3351581" y="2660665"/>
                  <a:pt x="3353684" y="1521015"/>
                  <a:pt x="3351269" y="282996"/>
                </a:cubicBezTo>
                <a:lnTo>
                  <a:pt x="275535" y="240515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1200331" y="3317064"/>
            <a:ext cx="5039000" cy="4753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Leveraging emerging technologies to enhance public services.</a:t>
            </a:r>
            <a:endParaRPr lang="en-US" sz="13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1200331" y="2788920"/>
            <a:ext cx="5035818" cy="4753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Pioneering Digital Transformation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1200331" y="4348535"/>
            <a:ext cx="5039000" cy="4753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Empowering government agencies to rapidly adapt and innovate.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" name="矩形 4"/>
          <p:cNvSpPr/>
          <p:nvPr>
            <p:custDataLst>
              <p:tags r:id="rId9"/>
            </p:custDataLst>
          </p:nvPr>
        </p:nvSpPr>
        <p:spPr>
          <a:xfrm>
            <a:off x="1200331" y="3820391"/>
            <a:ext cx="5035818" cy="4753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Agile Governance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1200331" y="5380642"/>
            <a:ext cx="5039000" cy="4753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Designing public services around the needs of the community.</a:t>
            </a:r>
            <a:endParaRPr lang="en-US" sz="13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1200331" y="4851862"/>
            <a:ext cx="5035818" cy="4753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Citizen-Centric Approach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913" y="159487"/>
            <a:ext cx="10799761" cy="1080000"/>
          </a:xfr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3600" spc="0" dirty="0">
                <a:solidFill>
                  <a:schemeClr val="tx1"/>
                </a:solidFill>
                <a:latin typeface="+mj-lt"/>
              </a:rPr>
              <a:t>Empowering Entrepreneurs</a:t>
            </a:r>
            <a:endParaRPr lang="en-US" sz="3600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9" name="图片 28" descr="房间的摆设布局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4" t="39741" r="15357" b="7767"/>
          <a:stretch>
            <a:fillRect/>
          </a:stretch>
        </p:blipFill>
        <p:spPr>
          <a:xfrm>
            <a:off x="4191108" y="1767600"/>
            <a:ext cx="3809672" cy="2481508"/>
          </a:xfrm>
          <a:custGeom>
            <a:avLst/>
            <a:gdLst>
              <a:gd name="connsiteX0" fmla="*/ 0 w 3809719"/>
              <a:gd name="connsiteY0" fmla="*/ 0 h 2481538"/>
              <a:gd name="connsiteX1" fmla="*/ 3809719 w 3809719"/>
              <a:gd name="connsiteY1" fmla="*/ 0 h 2481538"/>
              <a:gd name="connsiteX2" fmla="*/ 3809719 w 3809719"/>
              <a:gd name="connsiteY2" fmla="*/ 2481538 h 2481538"/>
              <a:gd name="connsiteX3" fmla="*/ 0 w 3809719"/>
              <a:gd name="connsiteY3" fmla="*/ 2481538 h 2481538"/>
              <a:gd name="connsiteX4" fmla="*/ 0 w 3809719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9719" h="2481538">
                <a:moveTo>
                  <a:pt x="0" y="0"/>
                </a:moveTo>
                <a:lnTo>
                  <a:pt x="3809719" y="0"/>
                </a:lnTo>
                <a:lnTo>
                  <a:pt x="3809719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7" name="图片 26" descr="房间里的沙发&#10;&#10;低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7" t="38666" r="2730" b="4992"/>
          <a:stretch>
            <a:fillRect/>
          </a:stretch>
        </p:blipFill>
        <p:spPr>
          <a:xfrm>
            <a:off x="159" y="1768870"/>
            <a:ext cx="4018866" cy="2481508"/>
          </a:xfrm>
          <a:custGeom>
            <a:avLst/>
            <a:gdLst>
              <a:gd name="connsiteX0" fmla="*/ 0 w 4018915"/>
              <a:gd name="connsiteY0" fmla="*/ 0 h 2481538"/>
              <a:gd name="connsiteX1" fmla="*/ 4018915 w 4018915"/>
              <a:gd name="connsiteY1" fmla="*/ 0 h 2481538"/>
              <a:gd name="connsiteX2" fmla="*/ 4018915 w 4018915"/>
              <a:gd name="connsiteY2" fmla="*/ 2481538 h 2481538"/>
              <a:gd name="connsiteX3" fmla="*/ 0 w 4018915"/>
              <a:gd name="connsiteY3" fmla="*/ 2481538 h 2481538"/>
              <a:gd name="connsiteX4" fmla="*/ 0 w 4018915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8915" h="2481538">
                <a:moveTo>
                  <a:pt x="0" y="0"/>
                </a:moveTo>
                <a:lnTo>
                  <a:pt x="4018915" y="0"/>
                </a:lnTo>
                <a:lnTo>
                  <a:pt x="4018915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片 16" descr="VCG41N136127408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50000" t="33416" r="1971" b="12663"/>
          <a:stretch>
            <a:fillRect/>
          </a:stretch>
        </p:blipFill>
        <p:spPr>
          <a:xfrm>
            <a:off x="8173144" y="1767600"/>
            <a:ext cx="3314838" cy="2480370"/>
          </a:xfrm>
          <a:custGeom>
            <a:avLst/>
            <a:gdLst>
              <a:gd name="connsiteX0" fmla="*/ 0 w 3289300"/>
              <a:gd name="connsiteY0" fmla="*/ 0 h 2461260"/>
              <a:gd name="connsiteX1" fmla="*/ 2058670 w 3289300"/>
              <a:gd name="connsiteY1" fmla="*/ 0 h 2461260"/>
              <a:gd name="connsiteX2" fmla="*/ 3289300 w 3289300"/>
              <a:gd name="connsiteY2" fmla="*/ 1230630 h 2461260"/>
              <a:gd name="connsiteX3" fmla="*/ 2058670 w 3289300"/>
              <a:gd name="connsiteY3" fmla="*/ 2461260 h 2461260"/>
              <a:gd name="connsiteX4" fmla="*/ 0 w 3289300"/>
              <a:gd name="connsiteY4" fmla="*/ 2461260 h 2461260"/>
              <a:gd name="connsiteX5" fmla="*/ 0 w 3289300"/>
              <a:gd name="connsiteY5" fmla="*/ 0 h 246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9300" h="2461260">
                <a:moveTo>
                  <a:pt x="0" y="0"/>
                </a:moveTo>
                <a:lnTo>
                  <a:pt x="2058670" y="0"/>
                </a:lnTo>
                <a:cubicBezTo>
                  <a:pt x="2738328" y="0"/>
                  <a:pt x="3289300" y="550972"/>
                  <a:pt x="3289300" y="1230630"/>
                </a:cubicBezTo>
                <a:cubicBezTo>
                  <a:pt x="3289300" y="1910288"/>
                  <a:pt x="2738328" y="2461260"/>
                  <a:pt x="2058670" y="2461260"/>
                </a:cubicBezTo>
                <a:lnTo>
                  <a:pt x="0" y="24612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422542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Provides resources and support for startups and entrepreneurs.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1422542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10000"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/>
                </a:solidFill>
                <a:latin typeface="+mj-lt"/>
              </a:rPr>
              <a:t>Fostering Innovation</a:t>
            </a:r>
            <a:endParaRPr lang="en-US" sz="1600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4968973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Connects entrepreneurs with investors and industry leaders.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4968973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10000"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/>
                </a:solidFill>
                <a:latin typeface="+mj-lt"/>
              </a:rPr>
              <a:t>Accelerating Growth</a:t>
            </a:r>
            <a:endParaRPr lang="en-US" sz="1600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7" name="椭圆 36"/>
          <p:cNvSpPr/>
          <p:nvPr>
            <p:custDataLst>
              <p:tags r:id="rId12"/>
            </p:custDataLst>
          </p:nvPr>
        </p:nvSpPr>
        <p:spPr>
          <a:xfrm>
            <a:off x="5675085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02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41" name="椭圆 40"/>
          <p:cNvSpPr/>
          <p:nvPr>
            <p:custDataLst>
              <p:tags r:id="rId13"/>
            </p:custDataLst>
          </p:nvPr>
        </p:nvSpPr>
        <p:spPr>
          <a:xfrm>
            <a:off x="2128653" y="3824340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01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8515405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Encourages the adoption of cutting-edge technologies.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8515405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1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Embracing Technology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3" name="椭圆 12"/>
          <p:cNvSpPr/>
          <p:nvPr>
            <p:custDataLst>
              <p:tags r:id="rId16"/>
            </p:custDataLst>
          </p:nvPr>
        </p:nvSpPr>
        <p:spPr>
          <a:xfrm>
            <a:off x="9221516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03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+mj-lt"/>
              </a:rPr>
              <a:t>Emerging Technologies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02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@path_Rectangle 41759-886&amp;3462"/>
          <p:cNvSpPr/>
          <p:nvPr>
            <p:custDataLst>
              <p:tags r:id="rId1"/>
            </p:custDataLst>
          </p:nvPr>
        </p:nvSpPr>
        <p:spPr>
          <a:xfrm>
            <a:off x="180975" y="892175"/>
            <a:ext cx="11314430" cy="2546985"/>
          </a:xfrm>
          <a:prstGeom prst="roundRect">
            <a:avLst>
              <a:gd name="adj" fmla="val 8160"/>
            </a:avLst>
          </a:prstGeom>
          <a:solidFill>
            <a:schemeClr val="lt1"/>
          </a:solidFill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169" y="892174"/>
            <a:ext cx="4548505" cy="2536825"/>
          </a:xfrm>
        </p:spPr>
        <p:txBody>
          <a:bodyPr wrap="square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spc="0" dirty="0">
                <a:solidFill>
                  <a:schemeClr val="dk1">
                    <a:lumMod val="100000"/>
                  </a:schemeClr>
                </a:solidFill>
                <a:latin typeface="+mj-lt"/>
              </a:rPr>
              <a:t>Artificial Intelligence</a:t>
            </a:r>
            <a:endParaRPr lang="en-US" spc="0" dirty="0">
              <a:solidFill>
                <a:schemeClr val="dk1">
                  <a:lumMod val="100000"/>
                </a:schemeClr>
              </a:solidFill>
              <a:latin typeface="+mj-lt"/>
            </a:endParaRPr>
          </a:p>
        </p:txBody>
      </p:sp>
      <p:pic>
        <p:nvPicPr>
          <p:cNvPr id="5" name="图片 4" descr="2305701106f543e29f8586a62bc9cbc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3909" b="41070"/>
          <a:stretch>
            <a:fillRect/>
          </a:stretch>
        </p:blipFill>
        <p:spPr>
          <a:xfrm>
            <a:off x="0" y="892175"/>
            <a:ext cx="6948170" cy="25469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942" h="4011">
                <a:moveTo>
                  <a:pt x="0" y="0"/>
                </a:moveTo>
                <a:lnTo>
                  <a:pt x="10942" y="0"/>
                </a:lnTo>
                <a:lnTo>
                  <a:pt x="10942" y="4011"/>
                </a:lnTo>
                <a:lnTo>
                  <a:pt x="0" y="4011"/>
                </a:lnTo>
                <a:lnTo>
                  <a:pt x="0" y="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871855" y="4297680"/>
            <a:ext cx="601980" cy="60198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+mn-lt"/>
                <a:sym typeface="+mn-lt"/>
              </a:rPr>
              <a:t>01</a:t>
            </a:r>
            <a:endParaRPr lang="en-US" b="1" dirty="0">
              <a:latin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1604010" y="4869180"/>
            <a:ext cx="2382520" cy="1195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Leveraging AI to automate repetitive tasks and streamline processes.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1604645" y="4361180"/>
            <a:ext cx="2382520" cy="41275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Enhancing Efficiency</a:t>
            </a:r>
            <a:endParaRPr lang="en-US" sz="1600" dirty="0">
              <a:solidFill>
                <a:schemeClr val="tx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8"/>
            </p:custDataLst>
          </p:nvPr>
        </p:nvSpPr>
        <p:spPr>
          <a:xfrm>
            <a:off x="4537075" y="4297680"/>
            <a:ext cx="601980" cy="60198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+mn-lt"/>
                <a:sym typeface="+mn-lt"/>
              </a:rPr>
              <a:t>02</a:t>
            </a:r>
            <a:endParaRPr lang="en-US" b="1" dirty="0">
              <a:latin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5269230" y="4869180"/>
            <a:ext cx="2382520" cy="1195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Utilizing AI-powered data analysis to forecast trends and make informed decisions.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5269865" y="4361180"/>
            <a:ext cx="2382520" cy="41275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Predictive Analytics</a:t>
            </a:r>
            <a:endParaRPr lang="en-US" sz="1600" dirty="0">
              <a:solidFill>
                <a:schemeClr val="tx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11"/>
            </p:custDataLst>
          </p:nvPr>
        </p:nvSpPr>
        <p:spPr>
          <a:xfrm>
            <a:off x="8202295" y="4297680"/>
            <a:ext cx="601980" cy="60198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+mn-lt"/>
                <a:sym typeface="+mn-lt"/>
              </a:rPr>
              <a:t>03</a:t>
            </a:r>
            <a:endParaRPr lang="en-US" b="1" dirty="0">
              <a:latin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8934450" y="4869180"/>
            <a:ext cx="2382521" cy="1195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Applying AI to deliver customized solutions and enhance user experiences.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3"/>
            </p:custDataLst>
          </p:nvPr>
        </p:nvSpPr>
        <p:spPr>
          <a:xfrm>
            <a:off x="8935085" y="4361180"/>
            <a:ext cx="2382520" cy="41275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8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Personalized Experiences</a:t>
            </a:r>
            <a:endParaRPr lang="en-US" sz="2000" dirty="0">
              <a:solidFill>
                <a:schemeClr val="tx1">
                  <a:lumMod val="100000"/>
                </a:schemeClr>
              </a:solidFill>
              <a:latin typeface="+mj-lt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Blockchain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Blockchain enables secure, transparent, and decentralized record-keeping.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Decentralized Ledger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Automated, self-executing contracts that facilitate transactions.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Smart Contracts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Digital currencies built on blockchain technology.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Cryptocurrency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Internet of Things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Transforming Industries</a:t>
            </a:r>
            <a:endParaRPr lang="zh-CN" altLang="en-US"/>
          </a:p>
          <a:p>
            <a:pPr lvl="1"/>
            <a:r>
              <a:rPr lang="zh-CN" altLang="en-US"/>
              <a:t>Integrating connected devices to optimize operations and enhance user experiences.</a:t>
            </a:r>
            <a:endParaRPr lang="zh-CN" altLang="en-US"/>
          </a:p>
          <a:p>
            <a:r>
              <a:rPr lang="zh-CN" altLang="en-US"/>
              <a:t>Intelligent Automation</a:t>
            </a:r>
            <a:endParaRPr lang="zh-CN" altLang="en-US"/>
          </a:p>
          <a:p>
            <a:pPr lvl="1"/>
            <a:r>
              <a:rPr lang="zh-CN" altLang="en-US"/>
              <a:t>Leveraging IoT data to automate processes and decision-making for greater efficiency.</a:t>
            </a:r>
            <a:endParaRPr lang="zh-CN" altLang="en-US"/>
          </a:p>
          <a:p>
            <a:r>
              <a:rPr lang="zh-CN" altLang="en-US"/>
              <a:t>Predictive Maintenance</a:t>
            </a:r>
            <a:endParaRPr lang="zh-CN" altLang="en-US"/>
          </a:p>
          <a:p>
            <a:pPr lvl="1"/>
            <a:r>
              <a:rPr lang="zh-CN" altLang="en-US"/>
              <a:t>Utilizing sensor data to predict equipment failures and schedule proactive maintenance.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+mj-lt"/>
              </a:rPr>
              <a:t>Driving Economic Growth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03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Diversifying the Economy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Investing in emerging sectors like renewable energy, fintech, and tourism.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Embracing New Industries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Supporting startups and small businesses to drive innovation.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Nurturing Entrepreneurship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Implementing smart city initiatives to enhance efficiency and productivity.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Leveraging Technology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Mask group1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369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530225" y="3091180"/>
            <a:ext cx="11129010" cy="323786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en-US" sz="3200">
              <a:latin typeface="+mj-lt"/>
              <a:sym typeface="Arial" panose="020B0604020202020204" pitchFamily="34" charset="0"/>
            </a:endParaRPr>
          </a:p>
        </p:txBody>
      </p:sp>
      <p:sp>
        <p:nvSpPr>
          <p:cNvPr id="29" name="标题"/>
          <p:cNvSpPr txBox="1"/>
          <p:nvPr>
            <p:custDataLst>
              <p:tags r:id="rId4"/>
            </p:custDataLst>
          </p:nvPr>
        </p:nvSpPr>
        <p:spPr>
          <a:xfrm>
            <a:off x="1527175" y="3244850"/>
            <a:ext cx="9473565" cy="7791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defPPr>
              <a:defRPr lang="en-US">
                <a:latin typeface="+mj-lt"/>
              </a:defRPr>
            </a:defPPr>
            <a:lvl1pPr>
              <a:lnSpc>
                <a:spcPct val="131000"/>
              </a:lnSpc>
              <a:defRPr sz="3400" b="1">
                <a:solidFill>
                  <a:schemeClr val="dk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Attracting Investments</a:t>
            </a:r>
            <a:endParaRPr lang="en-US" dirty="0">
              <a:latin typeface="+mj-lt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500505" y="4813617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+mn-lt"/>
                <a:sym typeface="+mn-ea"/>
              </a:rPr>
              <a:t>Leveraging Dubai's strategic location and business-friendly policies.</a:t>
            </a:r>
            <a:endParaRPr lang="en-US" sz="1400" dirty="0">
              <a:solidFill>
                <a:srgbClr val="000000"/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500505" y="4353877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+mj-lt"/>
                <a:sym typeface="+mn-ea"/>
              </a:rPr>
              <a:t>Diversified Economy</a:t>
            </a:r>
            <a:endParaRPr lang="en-US" b="1" dirty="0">
              <a:solidFill>
                <a:srgbClr val="000000"/>
              </a:solidFill>
              <a:latin typeface="+mj-lt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8326755" y="4813617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+mn-lt"/>
                <a:sym typeface="+mn-ea"/>
              </a:rPr>
              <a:t>Implementing investor-friendly laws and incentives.</a:t>
            </a:r>
            <a:endParaRPr lang="en-US" sz="1400">
              <a:solidFill>
                <a:srgbClr val="000000"/>
              </a:solidFill>
              <a:latin typeface="+mn-lt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8326755" y="4353877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  <a:latin typeface="+mj-lt"/>
                <a:sym typeface="+mn-ea"/>
              </a:rPr>
              <a:t>Favorable Regulations</a:t>
            </a:r>
            <a:endParaRPr lang="en-US" sz="2000" b="1">
              <a:solidFill>
                <a:srgbClr val="000000"/>
              </a:solidFill>
              <a:latin typeface="+mj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913630" y="4813617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+mn-lt"/>
                <a:sym typeface="+mn-ea"/>
              </a:rPr>
              <a:t>Developing world-class transportation and communication networks.</a:t>
            </a:r>
            <a:endParaRPr lang="en-US" sz="1400">
              <a:solidFill>
                <a:srgbClr val="000000"/>
              </a:solidFill>
              <a:latin typeface="+mn-lt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4913630" y="4353877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latin typeface="+mj-lt"/>
                <a:sym typeface="+mn-ea"/>
              </a:rPr>
              <a:t>Robust Infrastructure</a:t>
            </a:r>
            <a:endParaRPr lang="en-US" b="1">
              <a:solidFill>
                <a:srgbClr val="000000"/>
              </a:solidFill>
              <a:latin typeface="+mj-lt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Fostering Entrepreneurship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Providing funding, mentorship, and infrastructure to support new businesses.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Nurturing Startups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Cultivating a culture of creativity and risk-taking.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Empowering Innovators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Facilitating partnerships between entrepreneurs, corporates, and government entities.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Promoting Collaboration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+mj-lt"/>
              </a:rPr>
              <a:t>Talent Development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04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建筑的摆设布局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3" t="10777" r="1005" b="27417"/>
          <a:stretch>
            <a:fillRect/>
          </a:stretch>
        </p:blipFill>
        <p:spPr>
          <a:xfrm>
            <a:off x="5447762" y="1235247"/>
            <a:ext cx="6047199" cy="2923200"/>
          </a:xfrm>
          <a:custGeom>
            <a:avLst/>
            <a:gdLst>
              <a:gd name="connsiteX0" fmla="*/ 0 w 6884130"/>
              <a:gd name="connsiteY0" fmla="*/ 0 h 2935140"/>
              <a:gd name="connsiteX1" fmla="*/ 6884130 w 6884130"/>
              <a:gd name="connsiteY1" fmla="*/ 0 h 2935140"/>
              <a:gd name="connsiteX2" fmla="*/ 6884130 w 6884130"/>
              <a:gd name="connsiteY2" fmla="*/ 2935140 h 2935140"/>
              <a:gd name="connsiteX3" fmla="*/ 0 w 6884130"/>
              <a:gd name="connsiteY3" fmla="*/ 2935140 h 293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4130" h="2935140">
                <a:moveTo>
                  <a:pt x="0" y="0"/>
                </a:moveTo>
                <a:lnTo>
                  <a:pt x="6884130" y="0"/>
                </a:lnTo>
                <a:lnTo>
                  <a:pt x="6884130" y="2935140"/>
                </a:lnTo>
                <a:lnTo>
                  <a:pt x="0" y="2935140"/>
                </a:lnTo>
                <a:close/>
              </a:path>
            </a:pathLst>
          </a:custGeom>
          <a:ln w="6350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695325" y="1228897"/>
            <a:ext cx="4752438" cy="29351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067686" y="1628148"/>
            <a:ext cx="4148125" cy="2094765"/>
          </a:xfrm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pc="0" dirty="0">
                <a:solidFill>
                  <a:schemeClr val="lt1">
                    <a:lumMod val="100000"/>
                  </a:schemeClr>
                </a:solidFill>
                <a:latin typeface="+mj-lt"/>
              </a:rPr>
              <a:t>Upskilling the Workforce</a:t>
            </a:r>
            <a:endParaRPr lang="en-US" spc="0" dirty="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709661" y="5091470"/>
            <a:ext cx="2872890" cy="7301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Providing employees with opportunities for ongoing skill development.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709661" y="4426751"/>
            <a:ext cx="2872890" cy="6437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Continuous Learning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4671946" y="5091470"/>
            <a:ext cx="2872890" cy="7301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Investing in employee growth to foster long-term engagement.</a:t>
            </a:r>
            <a:endParaRPr lang="en-US" sz="13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7" name="矩形 6"/>
          <p:cNvSpPr/>
          <p:nvPr>
            <p:custDataLst>
              <p:tags r:id="rId8"/>
            </p:custDataLst>
          </p:nvPr>
        </p:nvSpPr>
        <p:spPr>
          <a:xfrm>
            <a:off x="4671946" y="4426751"/>
            <a:ext cx="2872890" cy="6437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Talent Retention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8634866" y="5091470"/>
            <a:ext cx="2872890" cy="7301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Equipping the workforce with future-ready digital skills.</a:t>
            </a:r>
            <a:endParaRPr lang="en-US" sz="13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8634866" y="4426751"/>
            <a:ext cx="2872890" cy="6437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Digital Transformation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Nurturing Future Leaders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Comprehensive training programs to develop critical skills.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Upskilling Initiatives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Pairing aspiring leaders with experienced industry experts.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Mentorship Opportunities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Workshops and seminars to cultivate essential management capabilities.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Leadership Development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Promoting Lifelong Learning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Upskilling Initiatives</a:t>
            </a:r>
            <a:endParaRPr lang="zh-CN" altLang="en-US"/>
          </a:p>
          <a:p>
            <a:pPr lvl="1"/>
            <a:r>
              <a:rPr lang="zh-CN" altLang="en-US"/>
              <a:t>Offering diverse training programs to develop future-ready skills.</a:t>
            </a:r>
            <a:endParaRPr lang="zh-CN" altLang="en-US"/>
          </a:p>
          <a:p>
            <a:r>
              <a:rPr lang="zh-CN" altLang="en-US"/>
              <a:t>Personalized Learning</a:t>
            </a:r>
            <a:endParaRPr lang="zh-CN" altLang="en-US"/>
          </a:p>
          <a:p>
            <a:pPr lvl="1"/>
            <a:r>
              <a:rPr lang="zh-CN" altLang="en-US"/>
              <a:t>Tailored learning paths to foster continuous growth and adaptation.</a:t>
            </a:r>
            <a:endParaRPr lang="zh-CN" altLang="en-US"/>
          </a:p>
          <a:p>
            <a:r>
              <a:rPr lang="zh-CN" altLang="en-US"/>
              <a:t>Mentorship Programs</a:t>
            </a:r>
            <a:endParaRPr lang="zh-CN" altLang="en-US"/>
          </a:p>
          <a:p>
            <a:pPr lvl="1"/>
            <a:r>
              <a:rPr lang="zh-CN" altLang="en-US"/>
              <a:t>Connecting employees with experienced mentors to share knowledge.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+mj-lt"/>
              </a:rPr>
              <a:t>Sustainability and Smart Cities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05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Renewable Energy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Implementing solar, wind, and geothermal power to reduce carbon footprint.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Renewable Energy Initiatives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Integrating advanced grid systems to optimize energy distribution and efficiency.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Smart Grid Technology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Designing cities with green spaces, efficient transportation, and eco-friendly buildings.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Sustainable Urban Planning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325" y="360000"/>
            <a:ext cx="6899793" cy="720000"/>
          </a:xfrm>
        </p:spPr>
        <p:txBody>
          <a:bodyPr wrap="square" lIns="0" tIns="0" rIns="0" bIns="0" anchor="ctr" anchorCtr="0">
            <a:normAutofit/>
          </a:bodyPr>
          <a:lstStyle/>
          <a:p>
            <a:r>
              <a:rPr lang="en-US" spc="0" dirty="0">
                <a:solidFill>
                  <a:schemeClr val="tx1"/>
                </a:solidFill>
                <a:latin typeface="+mj-lt"/>
              </a:rPr>
              <a:t>Efficient Resource Management</a:t>
            </a:r>
            <a:endParaRPr lang="en-US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l="1" t="2766" r="4541" b="9052"/>
          <a:stretch>
            <a:fillRect/>
          </a:stretch>
        </p:blipFill>
        <p:spPr>
          <a:xfrm>
            <a:off x="6718300" y="0"/>
            <a:ext cx="5473700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595050" y="1985908"/>
            <a:ext cx="4356396" cy="94353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Leveraging solar and wind power to reduce carbon footprint.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1594415" y="1523664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Renewable Energy</a:t>
            </a:r>
            <a:endParaRPr lang="en-US" sz="2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695325" y="1590334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01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1603304" y="3611382"/>
            <a:ext cx="4356397" cy="94353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Implementing smart waste collection and recycling systems.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603304" y="3149773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Waste Management</a:t>
            </a:r>
            <a:endParaRPr lang="en-US" sz="2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703579" y="3215808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1"/>
                </a:solidFill>
                <a:latin typeface="+mn-lt"/>
              </a:rPr>
              <a:t>02</a:t>
            </a:r>
            <a:endParaRPr lang="en-US" sz="2000" b="1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0"/>
            </p:custDataLst>
          </p:nvPr>
        </p:nvSpPr>
        <p:spPr>
          <a:xfrm>
            <a:off x="1594415" y="5234316"/>
            <a:ext cx="4356397" cy="94353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Deploying advanced water treatment and desalination technologies.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>
            <a:off x="1593780" y="4772072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Water Conservation</a:t>
            </a:r>
            <a:endParaRPr lang="en-US" sz="2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矩形 2"/>
          <p:cNvSpPr/>
          <p:nvPr>
            <p:custDataLst>
              <p:tags r:id="rId12"/>
            </p:custDataLst>
          </p:nvPr>
        </p:nvSpPr>
        <p:spPr>
          <a:xfrm>
            <a:off x="694690" y="4838742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1"/>
                </a:solidFill>
                <a:latin typeface="+mn-lt"/>
              </a:rPr>
              <a:t>03</a:t>
            </a:r>
            <a:endParaRPr lang="en-US" sz="2000" b="1">
              <a:solidFill>
                <a:schemeClr val="accent1"/>
              </a:solidFill>
              <a:latin typeface="+mn-ea"/>
            </a:endParaRPr>
          </a:p>
        </p:txBody>
      </p:sp>
    </p:spTree>
    <p:custDataLst>
      <p:tags r:id="rId13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913" y="159487"/>
            <a:ext cx="10799761" cy="1080000"/>
          </a:xfr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3600" spc="0" dirty="0">
                <a:solidFill>
                  <a:schemeClr val="tx1"/>
                </a:solidFill>
                <a:latin typeface="+mj-lt"/>
              </a:rPr>
              <a:t>Intelligent Infrastructure</a:t>
            </a:r>
            <a:endParaRPr lang="en-US" sz="3600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9" name="图片 28" descr="房间的摆设布局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4" t="39741" r="15357" b="7767"/>
          <a:stretch>
            <a:fillRect/>
          </a:stretch>
        </p:blipFill>
        <p:spPr>
          <a:xfrm>
            <a:off x="4191108" y="1767600"/>
            <a:ext cx="3809672" cy="2481508"/>
          </a:xfrm>
          <a:custGeom>
            <a:avLst/>
            <a:gdLst>
              <a:gd name="connsiteX0" fmla="*/ 0 w 3809719"/>
              <a:gd name="connsiteY0" fmla="*/ 0 h 2481538"/>
              <a:gd name="connsiteX1" fmla="*/ 3809719 w 3809719"/>
              <a:gd name="connsiteY1" fmla="*/ 0 h 2481538"/>
              <a:gd name="connsiteX2" fmla="*/ 3809719 w 3809719"/>
              <a:gd name="connsiteY2" fmla="*/ 2481538 h 2481538"/>
              <a:gd name="connsiteX3" fmla="*/ 0 w 3809719"/>
              <a:gd name="connsiteY3" fmla="*/ 2481538 h 2481538"/>
              <a:gd name="connsiteX4" fmla="*/ 0 w 3809719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9719" h="2481538">
                <a:moveTo>
                  <a:pt x="0" y="0"/>
                </a:moveTo>
                <a:lnTo>
                  <a:pt x="3809719" y="0"/>
                </a:lnTo>
                <a:lnTo>
                  <a:pt x="3809719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7" name="图片 26" descr="房间里的沙发&#10;&#10;低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7" t="38666" r="2730" b="4992"/>
          <a:stretch>
            <a:fillRect/>
          </a:stretch>
        </p:blipFill>
        <p:spPr>
          <a:xfrm>
            <a:off x="159" y="1768870"/>
            <a:ext cx="4018866" cy="2481508"/>
          </a:xfrm>
          <a:custGeom>
            <a:avLst/>
            <a:gdLst>
              <a:gd name="connsiteX0" fmla="*/ 0 w 4018915"/>
              <a:gd name="connsiteY0" fmla="*/ 0 h 2481538"/>
              <a:gd name="connsiteX1" fmla="*/ 4018915 w 4018915"/>
              <a:gd name="connsiteY1" fmla="*/ 0 h 2481538"/>
              <a:gd name="connsiteX2" fmla="*/ 4018915 w 4018915"/>
              <a:gd name="connsiteY2" fmla="*/ 2481538 h 2481538"/>
              <a:gd name="connsiteX3" fmla="*/ 0 w 4018915"/>
              <a:gd name="connsiteY3" fmla="*/ 2481538 h 2481538"/>
              <a:gd name="connsiteX4" fmla="*/ 0 w 4018915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8915" h="2481538">
                <a:moveTo>
                  <a:pt x="0" y="0"/>
                </a:moveTo>
                <a:lnTo>
                  <a:pt x="4018915" y="0"/>
                </a:lnTo>
                <a:lnTo>
                  <a:pt x="4018915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片 16" descr="VCG41N136127408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50000" t="33416" r="1971" b="12663"/>
          <a:stretch>
            <a:fillRect/>
          </a:stretch>
        </p:blipFill>
        <p:spPr>
          <a:xfrm>
            <a:off x="8173144" y="1767600"/>
            <a:ext cx="3314838" cy="2480370"/>
          </a:xfrm>
          <a:custGeom>
            <a:avLst/>
            <a:gdLst>
              <a:gd name="connsiteX0" fmla="*/ 0 w 3289300"/>
              <a:gd name="connsiteY0" fmla="*/ 0 h 2461260"/>
              <a:gd name="connsiteX1" fmla="*/ 2058670 w 3289300"/>
              <a:gd name="connsiteY1" fmla="*/ 0 h 2461260"/>
              <a:gd name="connsiteX2" fmla="*/ 3289300 w 3289300"/>
              <a:gd name="connsiteY2" fmla="*/ 1230630 h 2461260"/>
              <a:gd name="connsiteX3" fmla="*/ 2058670 w 3289300"/>
              <a:gd name="connsiteY3" fmla="*/ 2461260 h 2461260"/>
              <a:gd name="connsiteX4" fmla="*/ 0 w 3289300"/>
              <a:gd name="connsiteY4" fmla="*/ 2461260 h 2461260"/>
              <a:gd name="connsiteX5" fmla="*/ 0 w 3289300"/>
              <a:gd name="connsiteY5" fmla="*/ 0 h 246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9300" h="2461260">
                <a:moveTo>
                  <a:pt x="0" y="0"/>
                </a:moveTo>
                <a:lnTo>
                  <a:pt x="2058670" y="0"/>
                </a:lnTo>
                <a:cubicBezTo>
                  <a:pt x="2738328" y="0"/>
                  <a:pt x="3289300" y="550972"/>
                  <a:pt x="3289300" y="1230630"/>
                </a:cubicBezTo>
                <a:cubicBezTo>
                  <a:pt x="3289300" y="1910288"/>
                  <a:pt x="2738328" y="2461260"/>
                  <a:pt x="2058670" y="2461260"/>
                </a:cubicBezTo>
                <a:lnTo>
                  <a:pt x="0" y="24612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422542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Integrated energy, water, and waste management systems.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1422542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Smart Utilities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4968973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Electric vehicles, public transit, and bike-sharing programs.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4968973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Sustainable Mobility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7" name="椭圆 36"/>
          <p:cNvSpPr/>
          <p:nvPr>
            <p:custDataLst>
              <p:tags r:id="rId12"/>
            </p:custDataLst>
          </p:nvPr>
        </p:nvSpPr>
        <p:spPr>
          <a:xfrm>
            <a:off x="5675085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02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41" name="椭圆 40"/>
          <p:cNvSpPr/>
          <p:nvPr>
            <p:custDataLst>
              <p:tags r:id="rId13"/>
            </p:custDataLst>
          </p:nvPr>
        </p:nvSpPr>
        <p:spPr>
          <a:xfrm>
            <a:off x="2128653" y="3824340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01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8515405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High-speed internet, 5G networks, and IoT sensors.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8515405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Digital Connectivity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3" name="椭圆 12"/>
          <p:cNvSpPr/>
          <p:nvPr>
            <p:custDataLst>
              <p:tags r:id="rId16"/>
            </p:custDataLst>
          </p:nvPr>
        </p:nvSpPr>
        <p:spPr>
          <a:xfrm>
            <a:off x="9221516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03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+mj-lt"/>
              </a:rPr>
              <a:t>Global Partnerships</a:t>
            </a:r>
            <a:endParaRPr lang="en-US">
              <a:latin typeface="+mj-lt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06</a:t>
            </a:r>
            <a:endParaRPr 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4800" y="360000"/>
            <a:ext cx="6620400" cy="720000"/>
          </a:xfrm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en-US" spc="0" dirty="0">
                <a:latin typeface="+mj-lt"/>
              </a:rPr>
              <a:t>International Collaboration</a:t>
            </a:r>
            <a:endParaRPr lang="en-US" spc="0" dirty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1093" b="1093"/>
          <a:stretch>
            <a:fillRect/>
          </a:stretch>
        </p:blipFill>
        <p:spPr>
          <a:xfrm>
            <a:off x="6205775" y="990575"/>
            <a:ext cx="5290980" cy="5175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32" h="8150">
                <a:moveTo>
                  <a:pt x="4232" y="780"/>
                </a:moveTo>
                <a:lnTo>
                  <a:pt x="6216" y="780"/>
                </a:lnTo>
                <a:lnTo>
                  <a:pt x="6216" y="8150"/>
                </a:lnTo>
                <a:lnTo>
                  <a:pt x="4232" y="8150"/>
                </a:lnTo>
                <a:lnTo>
                  <a:pt x="4232" y="780"/>
                </a:lnTo>
                <a:close/>
                <a:moveTo>
                  <a:pt x="0" y="780"/>
                </a:moveTo>
                <a:lnTo>
                  <a:pt x="1984" y="780"/>
                </a:lnTo>
                <a:lnTo>
                  <a:pt x="1984" y="8150"/>
                </a:lnTo>
                <a:lnTo>
                  <a:pt x="0" y="8150"/>
                </a:lnTo>
                <a:lnTo>
                  <a:pt x="0" y="780"/>
                </a:lnTo>
                <a:close/>
                <a:moveTo>
                  <a:pt x="6348" y="0"/>
                </a:moveTo>
                <a:lnTo>
                  <a:pt x="8332" y="0"/>
                </a:lnTo>
                <a:lnTo>
                  <a:pt x="8332" y="7370"/>
                </a:lnTo>
                <a:lnTo>
                  <a:pt x="6348" y="7370"/>
                </a:lnTo>
                <a:lnTo>
                  <a:pt x="6348" y="0"/>
                </a:lnTo>
                <a:close/>
                <a:moveTo>
                  <a:pt x="2116" y="0"/>
                </a:moveTo>
                <a:lnTo>
                  <a:pt x="4100" y="0"/>
                </a:lnTo>
                <a:lnTo>
                  <a:pt x="4100" y="7370"/>
                </a:lnTo>
                <a:lnTo>
                  <a:pt x="2116" y="7370"/>
                </a:lnTo>
                <a:lnTo>
                  <a:pt x="2116" y="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692468" y="2054551"/>
            <a:ext cx="3393440" cy="7895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Partnering with international organizations to access cutting-edge technologies and industry best practices.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692468" y="1700154"/>
            <a:ext cx="3389628" cy="3290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accent1"/>
                </a:solidFill>
                <a:latin typeface="+mj-lt"/>
              </a:rPr>
              <a:t>Leveraging Global Expertise</a:t>
            </a:r>
            <a:endParaRPr lang="en-US" sz="1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692468" y="3490554"/>
            <a:ext cx="3393440" cy="789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Collaborating with global innovators to develop groundbreaking solutions for the UAE.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692468" y="3125996"/>
            <a:ext cx="3389628" cy="32899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1"/>
                </a:solidFill>
                <a:latin typeface="+mj-lt"/>
              </a:rPr>
              <a:t>Fostering Cross-border Innovation</a:t>
            </a:r>
            <a:endParaRPr lang="en-US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692468" y="4926558"/>
            <a:ext cx="3393440" cy="7894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Establishing strategic alliances to promote the UAE's innovative ecosystem globally.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692468" y="4551838"/>
            <a:ext cx="3389628" cy="32899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chemeClr val="accent1"/>
                </a:solidFill>
                <a:latin typeface="+mj-lt"/>
              </a:rPr>
              <a:t>Expanding Worldwide Reach</a:t>
            </a:r>
            <a:endParaRPr lang="en-US" sz="1600" b="1">
              <a:solidFill>
                <a:schemeClr val="accent1"/>
              </a:solidFill>
              <a:latin typeface="+mj-lt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Knowledge Sharing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Collaborate with international partners to share innovative knowledge and best practices.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Leverage global expertise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Enable exchange of ideas and solutions across geographical boundaries.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Facilitate cross-border learning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Promote an environment that encourages the sharing of novel concepts and technologies.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Cultivate a culture of innovation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Best Practices Exchange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Leverage global expertise</a:t>
            </a:r>
            <a:endParaRPr lang="zh-CN" altLang="en-US"/>
          </a:p>
          <a:p>
            <a:pPr lvl="1"/>
            <a:r>
              <a:rPr lang="zh-CN" altLang="en-US"/>
              <a:t>Collaborate with international partners to share innovative solutions.</a:t>
            </a:r>
            <a:endParaRPr lang="zh-CN" altLang="en-US"/>
          </a:p>
          <a:p>
            <a:r>
              <a:rPr lang="zh-CN" altLang="en-US"/>
              <a:t>Accelerate knowledge transfer</a:t>
            </a:r>
            <a:endParaRPr lang="zh-CN" altLang="en-US"/>
          </a:p>
          <a:p>
            <a:pPr lvl="1"/>
            <a:r>
              <a:rPr lang="zh-CN" altLang="en-US"/>
              <a:t>Facilitate cross-border exchange of cutting-edge technologies and methodologies.</a:t>
            </a:r>
            <a:endParaRPr lang="zh-CN" altLang="en-US"/>
          </a:p>
          <a:p>
            <a:r>
              <a:rPr lang="zh-CN" altLang="en-US"/>
              <a:t>Cultivate a culture of innovation</a:t>
            </a:r>
            <a:endParaRPr lang="zh-CN" altLang="en-US"/>
          </a:p>
          <a:p>
            <a:pPr lvl="1"/>
            <a:r>
              <a:rPr lang="zh-CN" altLang="en-US"/>
              <a:t>Engage in peer-to-peer learning to drive continuous improvement.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+mj-lt"/>
              </a:rPr>
              <a:t>Thank You</a:t>
            </a:r>
            <a:endParaRPr lang="en-US">
              <a:latin typeface="+mj-lt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6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3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7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30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30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30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11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30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1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3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30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30_1*a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Your title here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30_1*b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Add description"/>
</p:tagLst>
</file>

<file path=ppt/tags/tag13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030_1*f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Name"/>
</p:tagLst>
</file>

<file path=ppt/tags/tag131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LAYOUT" val="a_b_f"/>
  <p:tag name="KSO_WM_SLIDE_LAYOUT_CNT" val="1_1_1"/>
</p:tagLst>
</file>

<file path=ppt/tags/tag132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030_6*a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CONTENTS"/>
  <p:tag name="KSO_WM_UNIT_TEXT_FILL_FORE_SCHEMECOLOR_INDEX" val="15"/>
  <p:tag name="KSO_WM_UNIT_TEXT_FILL_TYPE" val="1"/>
  <p:tag name="KSO_WM_UNIT_USESOURCEFORMAT_APPLY" val="0"/>
</p:tagLst>
</file>

<file path=ppt/tags/tag13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38030_6*l_h_i*1_2_2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USESOURCEFORMAT_APPLY" val="0"/>
</p:tagLst>
</file>

<file path=ppt/tags/tag13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8030_6*l_h_i*1_2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02"/>
  <p:tag name="KSO_WM_UNIT_TEXT_FILL_FORE_SCHEMECOLOR_INDEX" val="5"/>
  <p:tag name="KSO_WM_UNIT_TEXT_FILL_TYPE" val="1"/>
  <p:tag name="KSO_WM_UNIT_USESOURCEFORMAT_APPLY" val="0"/>
</p:tagLst>
</file>

<file path=ppt/tags/tag13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8030_6*l_h_f*1_2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13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custom20238030_6*l_h_i*1_6_2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USESOURCEFORMAT_APPLY" val="0"/>
</p:tagLst>
</file>

<file path=ppt/tags/tag13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custom20238030_6*l_h_i*1_6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06"/>
  <p:tag name="KSO_WM_UNIT_TEXT_FILL_FORE_SCHEMECOLOR_INDEX" val="5"/>
  <p:tag name="KSO_WM_UNIT_TEXT_FILL_TYPE" val="1"/>
  <p:tag name="KSO_WM_UNIT_USESOURCEFORMAT_APPLY" val="0"/>
</p:tagLst>
</file>

<file path=ppt/tags/tag13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custom20238030_6*l_h_f*1_6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13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38030_6*l_h_i*1_1_2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USESOURCEFORMAT_APPLY" val="0"/>
</p:tagLst>
</file>

<file path=ppt/tags/tag14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8030_6*l_h_i*1_1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01"/>
  <p:tag name="KSO_WM_UNIT_TEXT_FILL_FORE_SCHEMECOLOR_INDEX" val="5"/>
  <p:tag name="KSO_WM_UNIT_TEXT_FILL_TYPE" val="1"/>
  <p:tag name="KSO_WM_UNIT_USESOURCEFORMAT_APPLY" val="0"/>
</p:tagLst>
</file>

<file path=ppt/tags/tag14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8030_6*l_h_f*1_1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14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38030_6*l_h_i*1_3_2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USESOURCEFORMAT_APPLY" val="0"/>
</p:tagLst>
</file>

<file path=ppt/tags/tag14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8030_6*l_h_i*1_3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03"/>
  <p:tag name="KSO_WM_UNIT_TEXT_FILL_FORE_SCHEMECOLOR_INDEX" val="5"/>
  <p:tag name="KSO_WM_UNIT_TEXT_FILL_TYPE" val="1"/>
  <p:tag name="KSO_WM_UNIT_USESOURCEFORMAT_APPLY" val="0"/>
</p:tagLst>
</file>

<file path=ppt/tags/tag14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8030_6*l_h_f*1_3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14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38030_6*l_h_i*1_4_2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USESOURCEFORMAT_APPLY" val="0"/>
</p:tagLst>
</file>

<file path=ppt/tags/tag14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8030_6*l_h_i*1_4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04"/>
  <p:tag name="KSO_WM_UNIT_TEXT_FILL_FORE_SCHEMECOLOR_INDEX" val="5"/>
  <p:tag name="KSO_WM_UNIT_TEXT_FILL_TYPE" val="1"/>
  <p:tag name="KSO_WM_UNIT_USESOURCEFORMAT_APPLY" val="0"/>
</p:tagLst>
</file>

<file path=ppt/tags/tag14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8030_6*l_h_f*1_4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14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custom20238030_6*l_h_i*1_5_2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USESOURCEFORMAT_APPLY" val="0"/>
</p:tagLst>
</file>

<file path=ppt/tags/tag14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custom20238030_6*l_h_i*1_5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05"/>
  <p:tag name="KSO_WM_UNIT_TEXT_FILL_FORE_SCHEMECOLOR_INDEX" val="5"/>
  <p:tag name="KSO_WM_UNIT_TEXT_FILL_TYPE" val="1"/>
  <p:tag name="KSO_WM_UNIT_USESOURCEFORMAT_APPLY" val="0"/>
</p:tagLst>
</file>

<file path=ppt/tags/tag15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36.8337707519531,&quot;width&quot;:838.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38030_6*l_h_f*1_5_1"/>
  <p:tag name="KSO_WM_TEMPLATE_CATEGORY" val="custom"/>
  <p:tag name="KSO_WM_TEMPLATE_INDEX" val="20238030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0"/>
</p:tagLst>
</file>

<file path=ppt/tags/tag151.xml><?xml version="1.0" encoding="utf-8"?>
<p:tagLst xmlns:p="http://schemas.openxmlformats.org/presentationml/2006/main">
  <p:tag name="KSO_WM_SLIDE_ID" val="custom20238030_6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030"/>
  <p:tag name="KSO_WM_SLIDE_LAYOUT" val="a_l"/>
  <p:tag name="KSO_WM_SLIDE_LAYOUT_CNT" val="1_1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30_7*a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Your title here"/>
</p:tagLst>
</file>

<file path=ppt/tags/tag153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8030_7*e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01"/>
</p:tagLst>
</file>

<file path=ppt/tags/tag154.xml><?xml version="1.0" encoding="utf-8"?>
<p:tagLst xmlns:p="http://schemas.openxmlformats.org/presentationml/2006/main">
  <p:tag name="KSO_WM_SPECIAL_SOURCE" val="bdnull"/>
  <p:tag name="KSO_WM_SLIDE_ID" val="custom2023803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030"/>
  <p:tag name="KSO_WM_SLIDE_LAYOUT" val="a_e"/>
  <p:tag name="KSO_WM_SLIDE_LAYOUT_CNT" val="1_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1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1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1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16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168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33_1*i*1"/>
  <p:tag name="KSO_WM_TEMPLATE_CATEGORY" val="custom"/>
  <p:tag name="KSO_WM_TEMPLATE_INDEX" val="20238333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70.xml><?xml version="1.0" encoding="utf-8"?>
<p:tagLst xmlns:p="http://schemas.openxmlformats.org/presentationml/2006/main">
  <p:tag name="KSO_WM_UNIT_VALUE" val="1226*96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333_1*d*1"/>
  <p:tag name="KSO_WM_TEMPLATE_CATEGORY" val="custom"/>
  <p:tag name="KSO_WM_TEMPLATE_INDEX" val="20238333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33"/>
  <p:tag name="KSO_WM_UNIT_ID" val="custom20238333_1*a*1"/>
  <p:tag name="KSO_WM_UNIT_PRESET_TEXT" val="The title goes here"/>
  <p:tag name="KSO_WM_UNIT_TEXT_FILL_FORE_SCHEMECOLOR_INDEX" val="13"/>
  <p:tag name="KSO_WM_UNIT_TEXT_FILL_TYPE" val="1"/>
  <p:tag name="KSO_WM_UNIT_USESOURCEFORMAT_APPLY" val="0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333_1*i*2"/>
  <p:tag name="KSO_WM_TEMPLATE_CATEGORY" val="custom"/>
  <p:tag name="KSO_WM_TEMPLATE_INDEX" val="20238333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73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4499969482422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3_3*l_h_f*1_1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174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4499969482422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53_3*l_h_a*1_1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75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4499969482422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53_3*l_h_f*1_2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176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4499969482422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53_3*l_h_a*1_2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77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4499969482422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53_3*l_h_f*1_3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178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4499969482422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53_3*l_h_a*1_3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8.85*274.5"/>
  <p:tag name="KSO_WM_TEMPLATE_INDEX" val="20238030"/>
  <p:tag name="KSO_WM_TEMPLATE_SUBCATEGORY" val="0"/>
  <p:tag name="KSO_WM_SLIDE_INDEX" val="1"/>
  <p:tag name="KSO_WM_TAG_VERSION" val="3.0"/>
  <p:tag name="KSO_WM_SLIDE_ID" val="custom20238333_1"/>
  <p:tag name="KSO_WM_SLIDE_ITEM_CNT" val="4"/>
  <p:tag name="KSO_WM_SPECIAL_SOURCE" val="bdnull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16_1*a*1"/>
  <p:tag name="KSO_WM_TEMPLATE_CATEGORY" val="custom"/>
  <p:tag name="KSO_WM_TEMPLATE_INDEX" val="2023841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81.xml><?xml version="1.0" encoding="utf-8"?>
<p:tagLst xmlns:p="http://schemas.openxmlformats.org/presentationml/2006/main">
  <p:tag name="KSO_WM_UNIT_VALUE" val="689*10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414_1*l_h_d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82.xml><?xml version="1.0" encoding="utf-8"?>
<p:tagLst xmlns:p="http://schemas.openxmlformats.org/presentationml/2006/main">
  <p:tag name="KSO_WM_UNIT_VALUE" val="689*11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414_1*l_h_d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83.xml><?xml version="1.0" encoding="utf-8"?>
<p:tagLst xmlns:p="http://schemas.openxmlformats.org/presentationml/2006/main">
  <p:tag name="KSO_WM_UNIT_VALUE" val="688*9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8414_1*l_h_d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84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14_1*l_h_f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185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414_1*l_h_a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86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14_1*l_h_f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187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414_1*l_h_a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88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414_1*l_h_i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414_1*l_h_i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190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414_1*l_h_f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191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414_1*l_h_a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92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414_1*l_h_i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193.xml><?xml version="1.0" encoding="utf-8"?>
<p:tagLst xmlns:p="http://schemas.openxmlformats.org/presentationml/2006/main">
  <p:tag name="KSO_WM_SLIDE_ID" val="custom20238416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904.564*328.446"/>
  <p:tag name="KSO_WM_SLIDE_POSITION" val="-7.87402e-05*139.18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30_7*a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Your title here"/>
</p:tagLst>
</file>

<file path=ppt/tags/tag195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8030_7*e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02"/>
</p:tagLst>
</file>

<file path=ppt/tags/tag196.xml><?xml version="1.0" encoding="utf-8"?>
<p:tagLst xmlns:p="http://schemas.openxmlformats.org/presentationml/2006/main">
  <p:tag name="KSO_WM_SPECIAL_SOURCE" val="bdnull"/>
  <p:tag name="KSO_WM_SLIDE_ID" val="custom2023803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030"/>
  <p:tag name="KSO_WM_SLIDE_LAYOUT" val="a_e"/>
  <p:tag name="KSO_WM_SLIDE_LAYOUT_CNT" val="1_1"/>
</p:tagLst>
</file>

<file path=ppt/tags/tag19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84_1*i*1"/>
  <p:tag name="KSO_WM_TEMPLATE_CATEGORY" val="custom"/>
  <p:tag name="KSO_WM_TEMPLATE_INDEX" val="20238284"/>
  <p:tag name="KSO_WM_UNIT_LAYERLEVEL" val="1"/>
  <p:tag name="KSO_WM_TAG_VERSION" val="3.0"/>
  <p:tag name="KSO_WM_UNIT_FILL_FORE_SCHEMECOLOR_INDEX" val="2"/>
  <p:tag name="KSO_WM_UNIT_FILL_TYPE" val="1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60"/>
  <p:tag name="KSO_WM_TEMPLATE_INDEX" val="20238284"/>
  <p:tag name="KSO_WM_UNIT_ID" val="custom20238284_1*a*1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99.xml><?xml version="1.0" encoding="utf-8"?>
<p:tagLst xmlns:p="http://schemas.openxmlformats.org/presentationml/2006/main">
  <p:tag name="KSO_WM_UNIT_VALUE" val="707*1929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8284_1*d*1"/>
  <p:tag name="KSO_WM_TEMPLATE_CATEGORY" val="custom"/>
  <p:tag name="KSO_WM_TEMPLATE_INDEX" val="20238284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</p:tagLst>
</file>

<file path=ppt/tags/tag200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37_2*l_h_i*1_1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01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37_2*l_h_f*1_1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02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37_2*l_h_a*1_1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03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37_2*l_h_i*1_2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04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37_2*l_h_f*1_2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05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37_2*l_h_a*1_2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06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37_2*l_h_i*1_3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07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37_2*l_h_f*1_3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08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37_2*l_h_a*1_3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09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22.45*139.1"/>
  <p:tag name="KSO_WM_SLIDE_POSITION" val="68.65*338.4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030"/>
  <p:tag name="KSO_WM_TEMPLATE_SUBCATEGORY" val="0"/>
  <p:tag name="KSO_WM_SLIDE_INDEX" val="1"/>
  <p:tag name="KSO_WM_TAG_VERSION" val="3.0"/>
  <p:tag name="KSO_WM_SLIDE_ID" val="custom20238284_1"/>
  <p:tag name="KSO_WM_SLIDE_ITEM_CNT" val="3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23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24.xml><?xml version="1.0" encoding="utf-8"?>
<p:tagLst xmlns:p="http://schemas.openxmlformats.org/presentationml/2006/main">
  <p:tag name="KSO_WM_TEMPLATE_CATEGORY" val="custom"/>
  <p:tag name="KSO_WM_TEMPLATE_INDEX" val="20238030"/>
</p:tagLst>
</file>

<file path=ppt/tags/tag2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30_7*a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Your title here"/>
</p:tagLst>
</file>

<file path=ppt/tags/tag226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8030_7*e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03"/>
</p:tagLst>
</file>

<file path=ppt/tags/tag227.xml><?xml version="1.0" encoding="utf-8"?>
<p:tagLst xmlns:p="http://schemas.openxmlformats.org/presentationml/2006/main">
  <p:tag name="KSO_WM_SPECIAL_SOURCE" val="bdnull"/>
  <p:tag name="KSO_WM_SLIDE_ID" val="custom2023803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030"/>
  <p:tag name="KSO_WM_SLIDE_LAYOUT" val="a_e"/>
  <p:tag name="KSO_WM_SLIDE_LAYOUT_CNT" val="1_1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3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41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42.xml><?xml version="1.0" encoding="utf-8"?>
<p:tagLst xmlns:p="http://schemas.openxmlformats.org/presentationml/2006/main">
  <p:tag name="KSO_WM_UNIT_VALUE" val="952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8285_1*d*1"/>
  <p:tag name="KSO_WM_TEMPLATE_CATEGORY" val="custom"/>
  <p:tag name="KSO_WM_TEMPLATE_INDEX" val="20238285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</p:tagLst>
</file>

<file path=ppt/tags/tag2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85_1*i*1"/>
  <p:tag name="KSO_WM_TEMPLATE_CATEGORY" val="custom"/>
  <p:tag name="KSO_WM_TEMPLATE_INDEX" val="20238285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285_1*a*1"/>
  <p:tag name="KSO_WM_TEMPLATE_CATEGORY" val="custom"/>
  <p:tag name="KSO_WM_TEMPLATE_INDEX" val="20238285"/>
  <p:tag name="KSO_WM_UNIT_LAYERLEVEL" val="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GROUP_CODE" val="l1-1"/>
  <p:tag name="KSO_WM_UNIT_USESOURCEFORMAT_APPLY" val="0"/>
  <p:tag name="KSO_WM_UNIT_PRESET_TEXT" val="Your title here"/>
</p:tagLst>
</file>

<file path=ppt/tags/tag245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35_3*l_h_f*1_1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USESOURCEFORMAT_APPLY" val="0"/>
</p:tagLst>
</file>

<file path=ppt/tags/tag246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35_3*l_h_a*1_1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Your title here"/>
  <p:tag name="KSO_WM_UNIT_USESOURCEFORMAT_APPLY" val="0"/>
</p:tagLst>
</file>

<file path=ppt/tags/tag247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35_3*l_h_f*1_3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USESOURCEFORMAT_APPLY" val="0"/>
</p:tagLst>
</file>

<file path=ppt/tags/tag248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35_3*l_h_a*1_3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Your title here"/>
  <p:tag name="KSO_WM_UNIT_USESOURCEFORMAT_APPLY" val="0"/>
</p:tagLst>
</file>

<file path=ppt/tags/tag249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35_3*l_h_f*1_2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USESOURCEFORMAT_APPLY" val="0"/>
</p:tagLst>
</file>

<file path=ppt/tags/tag250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35_3*l_h_a*1_2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Your title here"/>
  <p:tag name="KSO_WM_UNIT_USESOURCEFORMAT_APPLY" val="0"/>
</p:tagLst>
</file>

<file path=ppt/tags/tag251.xml><?xml version="1.0" encoding="utf-8"?>
<p:tagLst xmlns:p="http://schemas.openxmlformats.org/presentationml/2006/main">
  <p:tag name="KSO_WM_SLIDE_ID" val="custom20238285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745.9*95.95"/>
  <p:tag name="KSO_WM_SLIDE_POSITION" val="118.15*379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5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5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65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30_7*a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Your title here"/>
</p:tagLst>
</file>

<file path=ppt/tags/tag267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8030_7*e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04"/>
</p:tagLst>
</file>

<file path=ppt/tags/tag268.xml><?xml version="1.0" encoding="utf-8"?>
<p:tagLst xmlns:p="http://schemas.openxmlformats.org/presentationml/2006/main">
  <p:tag name="KSO_WM_SPECIAL_SOURCE" val="bdnull"/>
  <p:tag name="KSO_WM_SLIDE_ID" val="custom2023803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030"/>
  <p:tag name="KSO_WM_SLIDE_LAYOUT" val="a_e"/>
  <p:tag name="KSO_WM_SLIDE_LAYOUT_CNT" val="1_1"/>
</p:tagLst>
</file>

<file path=ppt/tags/tag269.xml><?xml version="1.0" encoding="utf-8"?>
<p:tagLst xmlns:p="http://schemas.openxmlformats.org/presentationml/2006/main">
  <p:tag name="KSO_WM_UNIT_VALUE" val="811*167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339_1*d*1"/>
  <p:tag name="KSO_WM_TEMPLATE_CATEGORY" val="custom"/>
  <p:tag name="KSO_WM_TEMPLATE_INDEX" val="20238339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39_1*i*1"/>
  <p:tag name="KSO_WM_TEMPLATE_CATEGORY" val="custom"/>
  <p:tag name="KSO_WM_TEMPLATE_INDEX" val="2023833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39"/>
  <p:tag name="KSO_WM_UNIT_ID" val="custom20238339_1*a*1"/>
  <p:tag name="KSO_WM_UNIT_PRESET_TEXT" val="The title goes here"/>
  <p:tag name="KSO_WM_UNIT_TEXT_FILL_FORE_SCHEMECOLOR_INDEX" val="2"/>
  <p:tag name="KSO_WM_UNIT_TEXT_FILL_TYPE" val="1"/>
  <p:tag name="KSO_WM_UNIT_USESOURCEFORMAT_APPLY" val="0"/>
</p:tagLst>
</file>

<file path=ppt/tags/tag272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2_3*l_h_f*1_1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273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52_3*l_h_a*1_1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74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52_3*l_h_f*1_2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275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52_3*l_h_a*1_2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76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52_3*l_h_f*1_3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277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52_3*l_h_a*1_3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78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850.447*57.5039"/>
  <p:tag name="KSO_WM_SLIDE_POSITION" val="55.75*400.888"/>
  <p:tag name="KSO_WM_TEMPLATE_INDEX" val="20238030"/>
  <p:tag name="KSO_WM_TEMPLATE_SUBCATEGORY" val="0"/>
  <p:tag name="KSO_WM_SLIDE_INDEX" val="1"/>
  <p:tag name="KSO_WM_TAG_VERSION" val="3.0"/>
  <p:tag name="KSO_WM_SLIDE_ID" val="custom20238339_1"/>
  <p:tag name="KSO_WM_SLIDE_ITEM_CNT" val="4"/>
  <p:tag name="KSO_WM_SPECIAL_SOURCE" val="bdnull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8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8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8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8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92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93.xml><?xml version="1.0" encoding="utf-8"?>
<p:tagLst xmlns:p="http://schemas.openxmlformats.org/presentationml/2006/main">
  <p:tag name="KSO_WM_TEMPLATE_CATEGORY" val="custom"/>
  <p:tag name="KSO_WM_TEMPLATE_INDEX" val="20238030"/>
</p:tagLst>
</file>

<file path=ppt/tags/tag2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30_7*a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Your title here"/>
</p:tagLst>
</file>

<file path=ppt/tags/tag295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8030_7*e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05"/>
</p:tagLst>
</file>

<file path=ppt/tags/tag296.xml><?xml version="1.0" encoding="utf-8"?>
<p:tagLst xmlns:p="http://schemas.openxmlformats.org/presentationml/2006/main">
  <p:tag name="KSO_WM_SPECIAL_SOURCE" val="bdnull"/>
  <p:tag name="KSO_WM_SLIDE_ID" val="custom2023803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030"/>
  <p:tag name="KSO_WM_SLIDE_LAYOUT" val="a_e"/>
  <p:tag name="KSO_WM_SLIDE_LAYOUT_CNT" val="1_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30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30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3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0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3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3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0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30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3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310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  <p:tag name="KSO_WM_TEMPLATE_INDEX" val="20238254"/>
  <p:tag name="KSO_WM_UNIT_ID" val="custom20238254_1*a*1"/>
  <p:tag name="KSO_WM_UNIT_PRESET_TEXT" val="Your title here"/>
</p:tagLst>
</file>

<file path=ppt/tags/tag312.xml><?xml version="1.0" encoding="utf-8"?>
<p:tagLst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4_1*d*1"/>
  <p:tag name="KSO_WM_TEMPLATE_CATEGORY" val="custom"/>
  <p:tag name="KSO_WM_TEMPLATE_INDEX" val="20238254"/>
  <p:tag name="KSO_WM_UNIT_LAYERLEVEL" val="1"/>
  <p:tag name="KSO_WM_TAG_VERSION" val="3.0"/>
  <p:tag name="KSO_WM_UNIT_LINE_FORE_SCHEMECOLOR_INDEX" val="1"/>
  <p:tag name="KSO_WM_UNIT_LINE_FILL_TYPE" val="2"/>
  <p:tag name="KSO_WM_UNIT_USESOURCEFORMAT_APPLY" val="0"/>
</p:tagLst>
</file>

<file path=ppt/tags/tag31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4_2*l_h_f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314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44_2*l_h_a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315.xml><?xml version="1.0" encoding="utf-8"?>
<p:tagLst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44_2*l_h_i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1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316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4_2*l_h_f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317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44_2*l_h_a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318.xml><?xml version="1.0" encoding="utf-8"?>
<p:tagLst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44_2*l_h_i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2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319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44_2*l_h_f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32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44_2*l_h_a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321.xml><?xml version="1.0" encoding="utf-8"?>
<p:tagLst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44_2*l_h_i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3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322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4.6*361.249"/>
  <p:tag name="KSO_WM_SLIDE_POSITION" val="54.7*125.20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030"/>
  <p:tag name="KSO_WM_TEMPLATE_SUBCATEGORY" val="0"/>
  <p:tag name="KSO_WM_SLIDE_INDEX" val="1"/>
  <p:tag name="KSO_WM_TAG_VERSION" val="3.0"/>
  <p:tag name="KSO_WM_SLIDE_ID" val="custom20238254_1"/>
  <p:tag name="KSO_WM_SLIDE_ITEM_CNT" val="3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16_1*a*1"/>
  <p:tag name="KSO_WM_TEMPLATE_CATEGORY" val="custom"/>
  <p:tag name="KSO_WM_TEMPLATE_INDEX" val="2023841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324.xml><?xml version="1.0" encoding="utf-8"?>
<p:tagLst xmlns:p="http://schemas.openxmlformats.org/presentationml/2006/main">
  <p:tag name="KSO_WM_UNIT_VALUE" val="689*10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414_1*l_h_d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325.xml><?xml version="1.0" encoding="utf-8"?>
<p:tagLst xmlns:p="http://schemas.openxmlformats.org/presentationml/2006/main">
  <p:tag name="KSO_WM_UNIT_VALUE" val="689*11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414_1*l_h_d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326.xml><?xml version="1.0" encoding="utf-8"?>
<p:tagLst xmlns:p="http://schemas.openxmlformats.org/presentationml/2006/main">
  <p:tag name="KSO_WM_UNIT_VALUE" val="688*9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8414_1*l_h_d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327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14_1*l_h_f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328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414_1*l_h_a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29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14_1*l_h_f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330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414_1*l_h_a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31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414_1*l_h_i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414_1*l_h_i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333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414_1*l_h_f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334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414_1*l_h_a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35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414_1*l_h_i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336.xml><?xml version="1.0" encoding="utf-8"?>
<p:tagLst xmlns:p="http://schemas.openxmlformats.org/presentationml/2006/main">
  <p:tag name="KSO_WM_SLIDE_ID" val="custom20238416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904.564*328.446"/>
  <p:tag name="KSO_WM_SLIDE_POSITION" val="-7.87402e-05*139.18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30_7*a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Your title here"/>
</p:tagLst>
</file>

<file path=ppt/tags/tag338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8030_7*e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06"/>
</p:tagLst>
</file>

<file path=ppt/tags/tag339.xml><?xml version="1.0" encoding="utf-8"?>
<p:tagLst xmlns:p="http://schemas.openxmlformats.org/presentationml/2006/main">
  <p:tag name="KSO_WM_SPECIAL_SOURCE" val="bdnull"/>
  <p:tag name="KSO_WM_SLIDE_ID" val="custom20238030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8030"/>
  <p:tag name="KSO_WM_SLIDE_LAYOUT" val="a_e"/>
  <p:tag name="KSO_WM_SLIDE_LAYOUT_CNT" val="1_1"/>
</p:tagLst>
</file>

<file path=ppt/tags/tag3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87"/>
  <p:tag name="KSO_WM_UNIT_ID" val="custom20238287_1*a*1"/>
  <p:tag name="KSO_WM_UNIT_TEXT_FILL_FORE_SCHEMECOLOR_INDEX" val="5"/>
  <p:tag name="KSO_WM_UNIT_TEXT_FILL_TYPE" val="1"/>
  <p:tag name="KSO_WM_UNIT_USESOURCEFORMAT_APPLY" val="0"/>
  <p:tag name="KSO_WM_UNIT_PRESET_TEXT" val="Your title here"/>
</p:tagLst>
</file>

<file path=ppt/tags/tag341.xml><?xml version="1.0" encoding="utf-8"?>
<p:tagLst xmlns:p="http://schemas.openxmlformats.org/presentationml/2006/main">
  <p:tag name="KSO_WM_UNIT_VALUE" val="1436*146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87_1*d*1"/>
  <p:tag name="KSO_WM_TEMPLATE_CATEGORY" val="custom"/>
  <p:tag name="KSO_WM_TEMPLATE_INDEX" val="20238287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USESOURCEFORMAT_APPLY" val="0"/>
</p:tagLst>
</file>

<file path=ppt/tags/tag342.xml><?xml version="1.0" encoding="utf-8"?>
<p:tagLst xmlns:p="http://schemas.openxmlformats.org/presentationml/2006/main">
  <p:tag name="KSO_WM_UNIT_TEXT_FILL_FORE_SCHEMECOLOR_INDEX_BRIGHTNESS" val="0.15"/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36_3*l_h_f*1_1_1"/>
  <p:tag name="KSO_WM_TEMPLATE_CATEGORY" val="diagram"/>
  <p:tag name="KSO_WM_TEMPLATE_INDEX" val="20237936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0"/>
</p:tagLst>
</file>

<file path=ppt/tags/tag343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36_3*l_h_a*1_1_1"/>
  <p:tag name="KSO_WM_TEMPLATE_CATEGORY" val="diagram"/>
  <p:tag name="KSO_WM_TEMPLATE_INDEX" val="20237936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44.xml><?xml version="1.0" encoding="utf-8"?>
<p:tagLst xmlns:p="http://schemas.openxmlformats.org/presentationml/2006/main">
  <p:tag name="KSO_WM_UNIT_TEXT_FILL_FORE_SCHEMECOLOR_INDEX_BRIGHTNESS" val="0.15"/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36_3*l_h_f*1_2_1"/>
  <p:tag name="KSO_WM_TEMPLATE_CATEGORY" val="diagram"/>
  <p:tag name="KSO_WM_TEMPLATE_INDEX" val="20237936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0"/>
</p:tagLst>
</file>

<file path=ppt/tags/tag345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36_3*l_h_a*1_2_1"/>
  <p:tag name="KSO_WM_TEMPLATE_CATEGORY" val="diagram"/>
  <p:tag name="KSO_WM_TEMPLATE_INDEX" val="20237936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46.xml><?xml version="1.0" encoding="utf-8"?>
<p:tagLst xmlns:p="http://schemas.openxmlformats.org/presentationml/2006/main">
  <p:tag name="KSO_WM_UNIT_TEXT_FILL_FORE_SCHEMECOLOR_INDEX_BRIGHTNESS" val="0.15"/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36_3*l_h_f*1_3_1"/>
  <p:tag name="KSO_WM_TEMPLATE_CATEGORY" val="diagram"/>
  <p:tag name="KSO_WM_TEMPLATE_INDEX" val="20237936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0"/>
</p:tagLst>
</file>

<file path=ppt/tags/tag347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318.2501525878906,&quot;width&quot;:267.14999389648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36_3*l_h_a*1_3_1"/>
  <p:tag name="KSO_WM_TEMPLATE_CATEGORY" val="diagram"/>
  <p:tag name="KSO_WM_TEMPLATE_INDEX" val="20237936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48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266.85*289.778"/>
  <p:tag name="KSO_WM_SLIDE_POSITION" val="54.7*161.172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030"/>
  <p:tag name="KSO_WM_TEMPLATE_SUBCATEGORY" val="0"/>
  <p:tag name="KSO_WM_SLIDE_INDEX" val="1"/>
  <p:tag name="KSO_WM_TAG_VERSION" val="3.0"/>
  <p:tag name="KSO_WM_SLIDE_ID" val="custom20238287_1"/>
  <p:tag name="KSO_WM_SLIDE_ITEM_CNT" val="2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3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35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3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5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35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3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3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3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362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030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63.xml><?xml version="1.0" encoding="utf-8"?>
<p:tagLst xmlns:p="http://schemas.openxmlformats.org/presentationml/2006/main">
  <p:tag name="KSO_WM_TEMPLATE_CATEGORY" val="custom"/>
  <p:tag name="KSO_WM_TEMPLATE_INDEX" val="20238030"/>
</p:tagLst>
</file>

<file path=ppt/tags/tag364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30_9*a*1"/>
  <p:tag name="KSO_WM_TEMPLATE_CATEGORY" val="custom"/>
  <p:tag name="KSO_WM_TEMPLATE_INDEX" val="20238030"/>
  <p:tag name="KSO_WM_UNIT_LAYERLEVEL" val="1"/>
  <p:tag name="KSO_WM_TAG_VERSION" val="3.0"/>
  <p:tag name="KSO_WM_BEAUTIFY_FLAG" val="#wm#"/>
  <p:tag name="KSO_WM_UNIT_PRESET_TEXT" val="THANKS"/>
</p:tagLst>
</file>

<file path=ppt/tags/tag365.xml><?xml version="1.0" encoding="utf-8"?>
<p:tagLst xmlns:p="http://schemas.openxmlformats.org/presentationml/2006/main">
  <p:tag name="KSO_WM_SPECIAL_SOURCE" val="bdnull"/>
  <p:tag name="KSO_WM_SLIDE_ID" val="custom20238030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030"/>
  <p:tag name="KSO_WM_SLIDE_LAYOUT" val="a_f"/>
  <p:tag name="KSO_WM_SLIDE_LAYOUT_CNT" val="1_1"/>
</p:tagLst>
</file>

<file path=ppt/tags/tag366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393">
      <a:dk1>
        <a:sysClr val="windowText" lastClr="000000"/>
      </a:dk1>
      <a:lt1>
        <a:sysClr val="window" lastClr="FFFFFF"/>
      </a:lt1>
      <a:dk2>
        <a:srgbClr val="1F006C"/>
      </a:dk2>
      <a:lt2>
        <a:srgbClr val="F6F3FF"/>
      </a:lt2>
      <a:accent1>
        <a:srgbClr val="8150FF"/>
      </a:accent1>
      <a:accent2>
        <a:srgbClr val="FFD22D"/>
      </a:accent2>
      <a:accent3>
        <a:srgbClr val="25DFD8"/>
      </a:accent3>
      <a:accent4>
        <a:srgbClr val="4AC2FF"/>
      </a:accent4>
      <a:accent5>
        <a:srgbClr val="FFAA5B"/>
      </a:accent5>
      <a:accent6>
        <a:srgbClr val="FF81A8"/>
      </a:accent6>
      <a:hlink>
        <a:srgbClr val="658BD5"/>
      </a:hlink>
      <a:folHlink>
        <a:srgbClr val="A16AA5"/>
      </a:folHlink>
    </a:clrScheme>
    <a:fontScheme name="可爱风组合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393">
      <a:dk1>
        <a:sysClr val="windowText" lastClr="000000"/>
      </a:dk1>
      <a:lt1>
        <a:sysClr val="window" lastClr="FFFFFF"/>
      </a:lt1>
      <a:dk2>
        <a:srgbClr val="1F006C"/>
      </a:dk2>
      <a:lt2>
        <a:srgbClr val="F6F3FF"/>
      </a:lt2>
      <a:accent1>
        <a:srgbClr val="8150FF"/>
      </a:accent1>
      <a:accent2>
        <a:srgbClr val="FFD22D"/>
      </a:accent2>
      <a:accent3>
        <a:srgbClr val="25DFD8"/>
      </a:accent3>
      <a:accent4>
        <a:srgbClr val="4AC2FF"/>
      </a:accent4>
      <a:accent5>
        <a:srgbClr val="FFAA5B"/>
      </a:accent5>
      <a:accent6>
        <a:srgbClr val="FF81A8"/>
      </a:accent6>
      <a:hlink>
        <a:srgbClr val="658BD5"/>
      </a:hlink>
      <a:folHlink>
        <a:srgbClr val="A16AA5"/>
      </a:folHlink>
    </a:clrScheme>
    <a:fontScheme name="可爱风组合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自定义 393">
      <a:dk1>
        <a:sysClr val="windowText" lastClr="000000"/>
      </a:dk1>
      <a:lt1>
        <a:sysClr val="window" lastClr="FFFFFF"/>
      </a:lt1>
      <a:dk2>
        <a:srgbClr val="1F006C"/>
      </a:dk2>
      <a:lt2>
        <a:srgbClr val="F6F3FF"/>
      </a:lt2>
      <a:accent1>
        <a:srgbClr val="8150FF"/>
      </a:accent1>
      <a:accent2>
        <a:srgbClr val="FFD22D"/>
      </a:accent2>
      <a:accent3>
        <a:srgbClr val="25DFD8"/>
      </a:accent3>
      <a:accent4>
        <a:srgbClr val="4AC2FF"/>
      </a:accent4>
      <a:accent5>
        <a:srgbClr val="FFAA5B"/>
      </a:accent5>
      <a:accent6>
        <a:srgbClr val="FF81A8"/>
      </a:accent6>
      <a:hlink>
        <a:srgbClr val="658BD5"/>
      </a:hlink>
      <a:folHlink>
        <a:srgbClr val="A16AA5"/>
      </a:folHlink>
    </a:clrScheme>
    <a:fontScheme name="可爱风组合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自定义 393">
      <a:dk1>
        <a:sysClr val="windowText" lastClr="000000"/>
      </a:dk1>
      <a:lt1>
        <a:sysClr val="window" lastClr="FFFFFF"/>
      </a:lt1>
      <a:dk2>
        <a:srgbClr val="1F006C"/>
      </a:dk2>
      <a:lt2>
        <a:srgbClr val="F6F3FF"/>
      </a:lt2>
      <a:accent1>
        <a:srgbClr val="8150FF"/>
      </a:accent1>
      <a:accent2>
        <a:srgbClr val="FFD22D"/>
      </a:accent2>
      <a:accent3>
        <a:srgbClr val="25DFD8"/>
      </a:accent3>
      <a:accent4>
        <a:srgbClr val="4AC2FF"/>
      </a:accent4>
      <a:accent5>
        <a:srgbClr val="FFAA5B"/>
      </a:accent5>
      <a:accent6>
        <a:srgbClr val="FF81A8"/>
      </a:accent6>
      <a:hlink>
        <a:srgbClr val="658BD5"/>
      </a:hlink>
      <a:folHlink>
        <a:srgbClr val="A16AA5"/>
      </a:folHlink>
    </a:clrScheme>
    <a:fontScheme name="可爱风组合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自定义 393">
      <a:dk1>
        <a:sysClr val="windowText" lastClr="000000"/>
      </a:dk1>
      <a:lt1>
        <a:sysClr val="window" lastClr="FFFFFF"/>
      </a:lt1>
      <a:dk2>
        <a:srgbClr val="1F006C"/>
      </a:dk2>
      <a:lt2>
        <a:srgbClr val="F6F3FF"/>
      </a:lt2>
      <a:accent1>
        <a:srgbClr val="8150FF"/>
      </a:accent1>
      <a:accent2>
        <a:srgbClr val="FFD22D"/>
      </a:accent2>
      <a:accent3>
        <a:srgbClr val="25DFD8"/>
      </a:accent3>
      <a:accent4>
        <a:srgbClr val="4AC2FF"/>
      </a:accent4>
      <a:accent5>
        <a:srgbClr val="FFAA5B"/>
      </a:accent5>
      <a:accent6>
        <a:srgbClr val="FF81A8"/>
      </a:accent6>
      <a:hlink>
        <a:srgbClr val="658BD5"/>
      </a:hlink>
      <a:folHlink>
        <a:srgbClr val="A16AA5"/>
      </a:folHlink>
    </a:clrScheme>
    <a:fontScheme name="可爱风组合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自定义 393">
      <a:dk1>
        <a:sysClr val="windowText" lastClr="000000"/>
      </a:dk1>
      <a:lt1>
        <a:sysClr val="window" lastClr="FFFFFF"/>
      </a:lt1>
      <a:dk2>
        <a:srgbClr val="1F006C"/>
      </a:dk2>
      <a:lt2>
        <a:srgbClr val="F6F3FF"/>
      </a:lt2>
      <a:accent1>
        <a:srgbClr val="8150FF"/>
      </a:accent1>
      <a:accent2>
        <a:srgbClr val="FFD22D"/>
      </a:accent2>
      <a:accent3>
        <a:srgbClr val="25DFD8"/>
      </a:accent3>
      <a:accent4>
        <a:srgbClr val="4AC2FF"/>
      </a:accent4>
      <a:accent5>
        <a:srgbClr val="FFAA5B"/>
      </a:accent5>
      <a:accent6>
        <a:srgbClr val="FF81A8"/>
      </a:accent6>
      <a:hlink>
        <a:srgbClr val="658BD5"/>
      </a:hlink>
      <a:folHlink>
        <a:srgbClr val="A16AA5"/>
      </a:folHlink>
    </a:clrScheme>
    <a:fontScheme name="可爱风组合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5843</Words>
  <Application>WPS Presentation</Application>
  <PresentationFormat>Widescreen</PresentationFormat>
  <Paragraphs>321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Mali</vt:lpstr>
      <vt:lpstr>Segoe Print</vt:lpstr>
      <vt:lpstr>Mali SemiBold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Dubai 10X Innovation (UAE)</vt:lpstr>
      <vt:lpstr>CONTENTS</vt:lpstr>
      <vt:lpstr>Dubai 10X Initiative</vt:lpstr>
      <vt:lpstr>Accelerating Innovation</vt:lpstr>
      <vt:lpstr>Transforming Government</vt:lpstr>
      <vt:lpstr>Empowering Entrepreneurs</vt:lpstr>
      <vt:lpstr>Emerging Technologies</vt:lpstr>
      <vt:lpstr>Artificial Intelligence</vt:lpstr>
      <vt:lpstr>Blockchain</vt:lpstr>
      <vt:lpstr>Internet of Things</vt:lpstr>
      <vt:lpstr>Driving Economic Growth</vt:lpstr>
      <vt:lpstr>Diversifying the Economy</vt:lpstr>
      <vt:lpstr>PowerPoint 演示文稿</vt:lpstr>
      <vt:lpstr>Fostering Entrepreneurship</vt:lpstr>
      <vt:lpstr>Talent Development</vt:lpstr>
      <vt:lpstr>Upskilling the Workforce</vt:lpstr>
      <vt:lpstr>Nurturing Future Leaders</vt:lpstr>
      <vt:lpstr>Promoting Lifelong Learning</vt:lpstr>
      <vt:lpstr>Sustainability and Smart Cities</vt:lpstr>
      <vt:lpstr>Renewable Energy</vt:lpstr>
      <vt:lpstr>Efficient Resource Management</vt:lpstr>
      <vt:lpstr>Intelligent Infrastructure</vt:lpstr>
      <vt:lpstr>Global Partnerships</vt:lpstr>
      <vt:lpstr>International Collaboration</vt:lpstr>
      <vt:lpstr>Knowledge Sharing</vt:lpstr>
      <vt:lpstr>Best Practices Exchange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pratistha Khanal</cp:lastModifiedBy>
  <cp:revision>3</cp:revision>
  <dcterms:created xsi:type="dcterms:W3CDTF">2025-07-23T00:59:00Z</dcterms:created>
  <dcterms:modified xsi:type="dcterms:W3CDTF">2025-12-14T10:00:36Z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EECBBC79FE404B0EB8B34B1D7E1CA921_11</vt:lpwstr>
  </property>
  <property fmtid="{D5CDD505-2E9C-101B-9397-08002B2CF9AE}" pid="3" name="KSOProductBuildVer">
    <vt:lpwstr>1033-12.2.0.23155</vt:lpwstr>
  </property>
</Properties>
</file>