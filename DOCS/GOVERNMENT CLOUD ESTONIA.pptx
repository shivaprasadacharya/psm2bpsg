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17:32:09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17:32:09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E61D-C6CD-4842-B2FD-4205DBF3121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AF99-BF59-4449-B9F5-E34F1650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64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E61D-C6CD-4842-B2FD-4205DBF3121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AF99-BF59-4449-B9F5-E34F1650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23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E61D-C6CD-4842-B2FD-4205DBF3121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AF99-BF59-4449-B9F5-E34F1650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73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E61D-C6CD-4842-B2FD-4205DBF3121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AF99-BF59-4449-B9F5-E34F1650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7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E61D-C6CD-4842-B2FD-4205DBF3121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AF99-BF59-4449-B9F5-E34F1650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82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E61D-C6CD-4842-B2FD-4205DBF3121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AF99-BF59-4449-B9F5-E34F1650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E61D-C6CD-4842-B2FD-4205DBF3121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AF99-BF59-4449-B9F5-E34F1650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14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E61D-C6CD-4842-B2FD-4205DBF3121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AF99-BF59-4449-B9F5-E34F1650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6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E61D-C6CD-4842-B2FD-4205DBF3121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AF99-BF59-4449-B9F5-E34F1650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73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E61D-C6CD-4842-B2FD-4205DBF3121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AF99-BF59-4449-B9F5-E34F1650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7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E61D-C6CD-4842-B2FD-4205DBF3121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AF99-BF59-4449-B9F5-E34F16502AC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3444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E61D-C6CD-4842-B2FD-4205DBF3121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AF99-BF59-4449-B9F5-E34F1650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12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E61D-C6CD-4842-B2FD-4205DBF3121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AF99-BF59-4449-B9F5-E34F16502AC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9884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E61D-C6CD-4842-B2FD-4205DBF3121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AF99-BF59-4449-B9F5-E34F1650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40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E61D-C6CD-4842-B2FD-4205DBF3121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AF99-BF59-4449-B9F5-E34F1650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74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4E61D-C6CD-4842-B2FD-4205DBF3121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AF99-BF59-4449-B9F5-E34F1650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10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4E61D-C6CD-4842-B2FD-4205DBF3121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92FAF99-BF59-4449-B9F5-E34F1650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7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it.ee/e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-estonia.com/solutions/cyber-security/secure-data-sharin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ixabay.com/en/thanks-thank-you-message-grateful-1314887/" TargetMode="External"/><Relationship Id="rId5" Type="http://schemas.openxmlformats.org/officeDocument/2006/relationships/image" Target="../media/image1.jpg"/><Relationship Id="rId4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FB0D6-7E02-B12A-A952-FC4F791FE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03596" y="-677332"/>
            <a:ext cx="9144000" cy="23876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ptos" panose="020B0004020202020204" pitchFamily="34" charset="0"/>
              </a:rPr>
              <a:t>GOVERNMENT CLOUD ESTONIA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9F89C-5DF1-8F26-0A32-6DA4288BF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267" y="4428205"/>
            <a:ext cx="7766936" cy="109689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r>
              <a:rPr lang="en-US" sz="6400" dirty="0">
                <a:latin typeface="Aptos" panose="020B0004020202020204" pitchFamily="34" charset="0"/>
              </a:rPr>
              <a:t> PRESENTED BY</a:t>
            </a:r>
          </a:p>
          <a:p>
            <a:r>
              <a:rPr lang="en-US" sz="6400" dirty="0">
                <a:latin typeface="Aptos" panose="020B0004020202020204" pitchFamily="34" charset="0"/>
              </a:rPr>
              <a:t> MANISHA YADAV</a:t>
            </a:r>
          </a:p>
          <a:p>
            <a:r>
              <a:rPr lang="en-US" sz="6400" dirty="0">
                <a:latin typeface="Aptos" panose="020B0004020202020204" pitchFamily="34" charset="0"/>
              </a:rPr>
              <a:t>                                                                                                                                        BPSG VII Semester</a:t>
            </a:r>
            <a:r>
              <a:rPr lang="en-US" sz="6400" baseline="30000" dirty="0">
                <a:latin typeface="Aptos" panose="020B0004020202020204" pitchFamily="34" charset="0"/>
              </a:rPr>
              <a:t>  </a:t>
            </a:r>
          </a:p>
          <a:p>
            <a:r>
              <a:rPr lang="en-US" sz="6400" dirty="0">
                <a:latin typeface="Aptos" panose="020B0004020202020204" pitchFamily="34" charset="0"/>
              </a:rPr>
              <a:t>                                                                                                                                          ROLL NO.(20/2079)</a:t>
            </a:r>
          </a:p>
        </p:txBody>
      </p:sp>
    </p:spTree>
    <p:extLst>
      <p:ext uri="{BB962C8B-B14F-4D97-AF65-F5344CB8AC3E}">
        <p14:creationId xmlns:p14="http://schemas.microsoft.com/office/powerpoint/2010/main" val="21461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E9BA1-4B91-04A8-9D56-B82CBB172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7B0C4-0A62-86DE-9FCF-8BAEF3E8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161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+mj-lt"/>
              </a:rPr>
              <a:t>Introduction </a:t>
            </a:r>
          </a:p>
          <a:p>
            <a:r>
              <a:rPr lang="en-US" sz="1600" dirty="0">
                <a:latin typeface="+mj-lt"/>
              </a:rPr>
              <a:t>Key features</a:t>
            </a:r>
          </a:p>
          <a:p>
            <a:r>
              <a:rPr lang="en-US" sz="1600" dirty="0">
                <a:latin typeface="+mj-lt"/>
              </a:rPr>
              <a:t>Pillars of Estonian e-governance</a:t>
            </a:r>
          </a:p>
          <a:p>
            <a:r>
              <a:rPr lang="en-US" sz="1600" dirty="0">
                <a:latin typeface="+mj-lt"/>
              </a:rPr>
              <a:t>Advantages</a:t>
            </a:r>
          </a:p>
          <a:p>
            <a:r>
              <a:rPr lang="en-US" sz="1600" dirty="0">
                <a:latin typeface="+mj-lt"/>
              </a:rPr>
              <a:t>Challenges, future direction and lesson learned</a:t>
            </a:r>
          </a:p>
          <a:p>
            <a:r>
              <a:rPr lang="en-US" sz="1600" dirty="0">
                <a:latin typeface="+mj-lt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84949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6D68C-1230-B068-6EA4-D356998B1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415" y="365125"/>
            <a:ext cx="10610385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Estonian Government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4FAA3-EEB2-911D-9B5A-7B2DE622A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b="1" dirty="0">
                <a:latin typeface="+mj-lt"/>
              </a:rPr>
              <a:t> (</a:t>
            </a:r>
            <a:r>
              <a:rPr lang="en-US" sz="1400" b="1" dirty="0" err="1">
                <a:latin typeface="+mj-lt"/>
              </a:rPr>
              <a:t>Riigipilv</a:t>
            </a:r>
            <a:r>
              <a:rPr lang="en-US" sz="1400" b="1" dirty="0">
                <a:latin typeface="+mj-lt"/>
              </a:rPr>
              <a:t>)</a:t>
            </a:r>
            <a:r>
              <a:rPr lang="en-US" sz="1400" dirty="0">
                <a:latin typeface="+mj-lt"/>
              </a:rPr>
              <a:t> is a secure, state-owned hybrid cloud platform</a:t>
            </a:r>
          </a:p>
          <a:p>
            <a:r>
              <a:rPr lang="en-US" sz="1400" dirty="0">
                <a:latin typeface="+mj-lt"/>
              </a:rPr>
              <a:t> Managed by the </a:t>
            </a:r>
            <a:r>
              <a:rPr lang="en-US" sz="1400" b="1" dirty="0">
                <a:latin typeface="+mj-lt"/>
                <a:hlinkClick r:id="rId2"/>
              </a:rPr>
              <a:t>Estonian IT Centre (RIT)</a:t>
            </a:r>
            <a:r>
              <a:rPr lang="en-US" sz="1400" b="1" dirty="0">
                <a:latin typeface="+mj-lt"/>
              </a:rPr>
              <a:t> </a:t>
            </a:r>
            <a:r>
              <a:rPr lang="en-US" sz="1400" dirty="0">
                <a:latin typeface="+mj-lt"/>
              </a:rPr>
              <a:t>that consolidates the public sector's IT infrastructure and hosts a wide array of e-services.</a:t>
            </a:r>
          </a:p>
          <a:p>
            <a:r>
              <a:rPr lang="en-US" sz="1400" dirty="0">
                <a:latin typeface="+mj-lt"/>
              </a:rPr>
              <a:t> Cornerstone of the country's advanced "e-Estonia" digital society initiative. </a:t>
            </a:r>
          </a:p>
        </p:txBody>
      </p:sp>
    </p:spTree>
    <p:extLst>
      <p:ext uri="{BB962C8B-B14F-4D97-AF65-F5344CB8AC3E}">
        <p14:creationId xmlns:p14="http://schemas.microsoft.com/office/powerpoint/2010/main" val="3681727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C9167-0EE9-E233-D2E8-B04E8A18F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latin typeface="Aptos" panose="020B0004020202020204" pitchFamily="34" charset="0"/>
              </a:rPr>
              <a:t>KEY FEATURES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7DD1642-4FD9-9752-D5E8-3866433F7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sz="1500" b="1" dirty="0">
                <a:latin typeface="+mj-lt"/>
              </a:rPr>
              <a:t>Hybrid Approach:</a:t>
            </a:r>
            <a:r>
              <a:rPr lang="en-US" sz="1500" dirty="0">
                <a:latin typeface="+mj-lt"/>
              </a:rPr>
              <a:t> The Estonian government cloud is a hybrid solution.</a:t>
            </a:r>
            <a:br>
              <a:rPr lang="en-US" sz="1500" dirty="0">
                <a:latin typeface="+mj-lt"/>
              </a:rPr>
            </a:br>
            <a:r>
              <a:rPr lang="en-US" sz="1500" dirty="0">
                <a:latin typeface="+mj-lt"/>
              </a:rPr>
              <a:t>    </a:t>
            </a:r>
            <a:r>
              <a:rPr lang="en-US" sz="1500" b="1" dirty="0">
                <a:latin typeface="+mj-lt"/>
              </a:rPr>
              <a:t>In-country private cloud</a:t>
            </a:r>
          </a:p>
          <a:p>
            <a:pPr marL="0" indent="0">
              <a:buNone/>
            </a:pPr>
            <a:r>
              <a:rPr lang="en-US" sz="1500" b="1" dirty="0">
                <a:latin typeface="+mj-lt"/>
              </a:rPr>
              <a:t>          International public cloud integration </a:t>
            </a:r>
          </a:p>
          <a:p>
            <a:pPr marL="0" indent="0">
              <a:buNone/>
            </a:pPr>
            <a:r>
              <a:rPr lang="en-US" sz="1500" b="1" dirty="0">
                <a:latin typeface="+mj-lt"/>
              </a:rPr>
              <a:t>          Data Embassies</a:t>
            </a:r>
            <a:endParaRPr lang="en-US" sz="1500" dirty="0">
              <a:latin typeface="+mj-lt"/>
            </a:endParaRPr>
          </a:p>
          <a:p>
            <a:r>
              <a:rPr lang="en-US" sz="1500" b="1" dirty="0">
                <a:latin typeface="+mj-lt"/>
              </a:rPr>
              <a:t>Security and Standards:</a:t>
            </a:r>
            <a:r>
              <a:rPr lang="en-US" sz="1500" dirty="0">
                <a:latin typeface="+mj-lt"/>
              </a:rPr>
              <a:t>  IT Security Standard (ISKE)  </a:t>
            </a:r>
            <a:r>
              <a:rPr lang="en-US" sz="1500" dirty="0">
                <a:latin typeface="+mj-lt"/>
                <a:hlinkClick r:id="rId2"/>
              </a:rPr>
              <a:t>KSI Blockchain</a:t>
            </a:r>
            <a:r>
              <a:rPr lang="en-US" sz="1500" dirty="0">
                <a:latin typeface="+mj-lt"/>
              </a:rPr>
              <a:t> </a:t>
            </a:r>
          </a:p>
          <a:p>
            <a:r>
              <a:rPr lang="en-US" sz="1500" b="1" dirty="0">
                <a:latin typeface="+mj-lt"/>
              </a:rPr>
              <a:t>Efficiency and "Once-Only" Principle</a:t>
            </a:r>
            <a:endParaRPr lang="en-US" sz="1500" dirty="0">
              <a:latin typeface="+mj-lt"/>
            </a:endParaRPr>
          </a:p>
          <a:p>
            <a:r>
              <a:rPr lang="en-US" sz="1500" dirty="0">
                <a:latin typeface="+mj-lt"/>
              </a:rPr>
              <a:t>Estonia to offer 100% of its public services online 24/7, saving significant working time annually and providing a hassle-free environment </a:t>
            </a:r>
            <a:br>
              <a:rPr lang="en-US" sz="1500" dirty="0">
                <a:latin typeface="+mj-lt"/>
              </a:rPr>
            </a:br>
            <a:br>
              <a:rPr lang="en-US" sz="1500" dirty="0">
                <a:latin typeface="+mj-lt"/>
              </a:rPr>
            </a:b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br>
              <a:rPr lang="en-US" sz="1400" dirty="0"/>
            </a:br>
            <a:endParaRPr lang="en-US" sz="1400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862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66F21-2617-6D9F-46EB-D8B00A496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Pillars of Estonia e-Governance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5B201-80F3-B956-C9A3-C09DE7EE1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512" y="1312669"/>
            <a:ext cx="10515600" cy="4351338"/>
          </a:xfrm>
        </p:spPr>
        <p:txBody>
          <a:bodyPr>
            <a:noAutofit/>
          </a:bodyPr>
          <a:lstStyle/>
          <a:p>
            <a:pPr lvl="1" fontAlgn="base"/>
            <a:r>
              <a:rPr lang="en-US" sz="1400" b="1" dirty="0">
                <a:latin typeface="+mj-lt"/>
              </a:rPr>
              <a:t>Digital Identity</a:t>
            </a:r>
          </a:p>
          <a:p>
            <a:pPr lvl="1" fontAlgn="base"/>
            <a:r>
              <a:rPr lang="en-US" sz="1400" b="1" dirty="0">
                <a:latin typeface="+mj-lt"/>
              </a:rPr>
              <a:t>Secure Data Exchange (X-Road</a:t>
            </a:r>
            <a:endParaRPr lang="en-US" sz="1400" dirty="0">
              <a:latin typeface="+mj-lt"/>
            </a:endParaRPr>
          </a:p>
          <a:p>
            <a:pPr lvl="1" fontAlgn="base"/>
            <a:r>
              <a:rPr lang="en-US" sz="1400" b="1" dirty="0">
                <a:latin typeface="+mj-lt"/>
              </a:rPr>
              <a:t>High-Quality Databases</a:t>
            </a:r>
            <a:br>
              <a:rPr lang="en-US" sz="1400" dirty="0"/>
            </a:br>
            <a:endParaRPr lang="en-US" sz="1400" dirty="0"/>
          </a:p>
          <a:p>
            <a:pPr fontAlgn="base"/>
            <a:r>
              <a:rPr lang="en-US" sz="1400" b="1" dirty="0">
                <a:latin typeface="+mj-lt"/>
              </a:rPr>
              <a:t>Transparent, Efficient, and Inclusive</a:t>
            </a:r>
          </a:p>
          <a:p>
            <a:pPr fontAlgn="base"/>
            <a:r>
              <a:rPr lang="en-US" sz="1400" dirty="0">
                <a:latin typeface="+mj-lt"/>
              </a:rPr>
              <a:t>Estonia’s approach to e-Governance combines:</a:t>
            </a:r>
          </a:p>
          <a:p>
            <a:pPr lvl="1" fontAlgn="base"/>
            <a:r>
              <a:rPr lang="en-US" sz="1400" b="1" dirty="0">
                <a:latin typeface="+mj-lt"/>
              </a:rPr>
              <a:t>e-Administration</a:t>
            </a:r>
            <a:r>
              <a:rPr lang="en-US" sz="1400" dirty="0">
                <a:latin typeface="+mj-lt"/>
              </a:rPr>
              <a:t> – efficient internal government operations</a:t>
            </a:r>
          </a:p>
          <a:p>
            <a:pPr lvl="1" fontAlgn="base"/>
            <a:r>
              <a:rPr lang="en-US" sz="1400" b="1" dirty="0">
                <a:latin typeface="+mj-lt"/>
              </a:rPr>
              <a:t>e-Services</a:t>
            </a:r>
            <a:r>
              <a:rPr lang="en-US" sz="1400" dirty="0">
                <a:latin typeface="+mj-lt"/>
              </a:rPr>
              <a:t> – accessible, user-friendly digital services</a:t>
            </a:r>
            <a:r>
              <a:rPr lang="en-US" sz="1400" b="1" dirty="0">
                <a:latin typeface="+mj-lt"/>
              </a:rPr>
              <a:t>  </a:t>
            </a:r>
          </a:p>
          <a:p>
            <a:pPr lvl="1" fontAlgn="base"/>
            <a:r>
              <a:rPr lang="en-US" sz="1400" b="1" dirty="0">
                <a:latin typeface="+mj-lt"/>
              </a:rPr>
              <a:t>  e-Participation</a:t>
            </a:r>
            <a:r>
              <a:rPr lang="en-US" sz="1400" dirty="0">
                <a:latin typeface="+mj-lt"/>
              </a:rPr>
              <a:t> – tools for citizen engagement in policymaking</a:t>
            </a:r>
          </a:p>
          <a:p>
            <a:pPr fontAlgn="base"/>
            <a:r>
              <a:rPr lang="en-US" sz="1400" b="1" dirty="0">
                <a:latin typeface="+mj-lt"/>
              </a:rPr>
              <a:t>Proactive and Invisible Services</a:t>
            </a:r>
          </a:p>
          <a:p>
            <a:pPr fontAlgn="base"/>
            <a:r>
              <a:rPr lang="en-US" sz="1400" dirty="0">
                <a:latin typeface="+mj-lt"/>
              </a:rPr>
              <a:t>Estonia follows the </a:t>
            </a:r>
            <a:r>
              <a:rPr lang="en-US" sz="1400" b="1" dirty="0">
                <a:latin typeface="+mj-lt"/>
              </a:rPr>
              <a:t>“once-only” principle</a:t>
            </a:r>
            <a:r>
              <a:rPr lang="en-US" sz="1400" dirty="0">
                <a:latin typeface="+mj-lt"/>
              </a:rPr>
              <a:t>: citizens provide their data just once, </a:t>
            </a:r>
          </a:p>
          <a:p>
            <a:pPr fontAlgn="base"/>
            <a:r>
              <a:rPr lang="en-US" sz="1400" dirty="0">
                <a:latin typeface="+mj-lt"/>
              </a:rPr>
              <a:t>         government agencies re-use it securely. The next step is </a:t>
            </a:r>
            <a:r>
              <a:rPr lang="en-US" sz="1400" b="1" dirty="0">
                <a:latin typeface="+mj-lt"/>
              </a:rPr>
              <a:t>proactive service</a:t>
            </a:r>
            <a:endParaRPr lang="en-US" sz="1400" dirty="0">
              <a:latin typeface="+mj-lt"/>
            </a:endParaRPr>
          </a:p>
          <a:p>
            <a:pPr fontAlgn="base"/>
            <a:r>
              <a:rPr lang="en-US" sz="1400" b="1" dirty="0">
                <a:latin typeface="+mj-lt"/>
              </a:rPr>
              <a:t>Privacy and Trust</a:t>
            </a:r>
          </a:p>
          <a:p>
            <a:pPr fontAlgn="base"/>
            <a:r>
              <a:rPr lang="en-US" sz="1400" dirty="0">
                <a:latin typeface="+mj-lt"/>
              </a:rPr>
              <a:t>       Estonian citizens have full transparency over </a:t>
            </a:r>
            <a:r>
              <a:rPr lang="en-US" sz="1400" b="1" dirty="0">
                <a:latin typeface="+mj-lt"/>
              </a:rPr>
              <a:t>who accesses their data</a:t>
            </a:r>
            <a:r>
              <a:rPr lang="en-US" sz="1400" dirty="0">
                <a:latin typeface="+mj-lt"/>
              </a:rPr>
              <a:t>.</a:t>
            </a:r>
          </a:p>
          <a:p>
            <a:pPr fontAlgn="base"/>
            <a:r>
              <a:rPr lang="en-US" sz="1400" dirty="0">
                <a:latin typeface="+mj-lt"/>
              </a:rPr>
              <a:t>       Strong legal frameworks and technologies such as </a:t>
            </a:r>
            <a:r>
              <a:rPr lang="en-US" sz="1400" b="1" dirty="0">
                <a:latin typeface="+mj-lt"/>
              </a:rPr>
              <a:t>KSI Blockchain</a:t>
            </a:r>
            <a:r>
              <a:rPr lang="en-US" sz="1400" dirty="0">
                <a:latin typeface="+mj-lt"/>
              </a:rPr>
              <a:t> ensure </a:t>
            </a:r>
            <a:r>
              <a:rPr lang="en-US" sz="1400" b="1" dirty="0">
                <a:latin typeface="+mj-lt"/>
              </a:rPr>
              <a:t>data integrity and </a:t>
            </a:r>
            <a:r>
              <a:rPr lang="en-US" sz="1400" b="1" dirty="0" err="1">
                <a:latin typeface="+mj-lt"/>
              </a:rPr>
              <a:t>trust</a:t>
            </a:r>
            <a:r>
              <a:rPr lang="en-US" sz="1400" dirty="0" err="1">
                <a:latin typeface="+mj-lt"/>
              </a:rPr>
              <a:t>,secure</a:t>
            </a:r>
            <a:r>
              <a:rPr lang="en-US" sz="1400" dirty="0">
                <a:latin typeface="+mj-lt"/>
              </a:rPr>
              <a:t> in the world.</a:t>
            </a:r>
          </a:p>
          <a:p>
            <a:pPr marL="0" indent="0">
              <a:buNone/>
            </a:pPr>
            <a:br>
              <a:rPr lang="en-US" sz="1400" dirty="0">
                <a:latin typeface="+mj-lt"/>
              </a:rPr>
            </a:b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31469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88D20-C0E9-EEA4-FB7E-83ACAF31E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Need/Importance/Advantages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8F6E0-F4CE-1C19-C404-73C3CB98B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1253331"/>
            <a:ext cx="5181600" cy="4351338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b="1" dirty="0"/>
              <a:t>Operational Efficiency and Cost-Effectiveness</a:t>
            </a:r>
          </a:p>
          <a:p>
            <a:r>
              <a:rPr lang="en-US" sz="1400" dirty="0"/>
              <a:t>       </a:t>
            </a:r>
            <a:r>
              <a:rPr lang="en-US" sz="1400" b="1" dirty="0"/>
              <a:t>Resource Consolidation</a:t>
            </a:r>
          </a:p>
          <a:p>
            <a:r>
              <a:rPr lang="en-US" sz="1400" b="1" dirty="0"/>
              <a:t>       Time Savings:</a:t>
            </a:r>
          </a:p>
          <a:p>
            <a:r>
              <a:rPr lang="en-US" sz="1400" dirty="0"/>
              <a:t>        Estimated at over 1,400 years of working time per year across    e-services</a:t>
            </a:r>
          </a:p>
          <a:p>
            <a:r>
              <a:rPr lang="en-US" sz="1400" dirty="0"/>
              <a:t>        Resulting in fiscal saving equivalent to around two percent of GDP annually    </a:t>
            </a:r>
          </a:p>
          <a:p>
            <a:r>
              <a:rPr lang="en-US" sz="1400" b="1" dirty="0">
                <a:latin typeface="+mj-lt"/>
              </a:rPr>
              <a:t>      </a:t>
            </a:r>
            <a:r>
              <a:rPr lang="en-US" sz="1400" b="1" dirty="0">
                <a:latin typeface="Aptos" panose="020B0004020202020204" pitchFamily="34" charset="0"/>
              </a:rPr>
              <a:t>Flexible Resource Use.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b="1" dirty="0">
                <a:latin typeface="Aptos" panose="020B0004020202020204" pitchFamily="34" charset="0"/>
              </a:rPr>
              <a:t>  Enhanced Security and Resilience</a:t>
            </a:r>
          </a:p>
          <a:p>
            <a:r>
              <a:rPr lang="en-US" sz="1400" b="1" dirty="0">
                <a:latin typeface="+mj-lt"/>
              </a:rPr>
              <a:t>    Standardized Security</a:t>
            </a:r>
          </a:p>
          <a:p>
            <a:r>
              <a:rPr lang="en-US" sz="1400" b="1" dirty="0">
                <a:latin typeface="+mj-lt"/>
              </a:rPr>
              <a:t>   Data Integrity and Transparency</a:t>
            </a:r>
          </a:p>
          <a:p>
            <a:r>
              <a:rPr lang="en-US" sz="1400" dirty="0">
                <a:latin typeface="+mj-lt"/>
              </a:rPr>
              <a:t>   </a:t>
            </a:r>
            <a:r>
              <a:rPr lang="en-US" sz="1400" b="1" dirty="0">
                <a:latin typeface="+mj-lt"/>
              </a:rPr>
              <a:t>Digital Continuity and Data Embassies</a:t>
            </a:r>
          </a:p>
          <a:p>
            <a:pPr marL="0" indent="0">
              <a:buNone/>
            </a:pPr>
            <a:br>
              <a:rPr lang="en-US" sz="1400" dirty="0"/>
            </a:br>
            <a:r>
              <a:rPr lang="en-US" sz="1400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4F9F2-1BC2-F0DA-6358-41A420210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493" y="1253331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3.     Improved Public Service</a:t>
            </a:r>
          </a:p>
          <a:p>
            <a:r>
              <a:rPr lang="en-US" sz="1400" b="1" dirty="0">
                <a:latin typeface="+mj-lt"/>
              </a:rPr>
              <a:t>  24/7 Accessibility   </a:t>
            </a:r>
            <a:endParaRPr lang="en-US" sz="1400" dirty="0">
              <a:latin typeface="+mj-lt"/>
            </a:endParaRPr>
          </a:p>
          <a:p>
            <a:r>
              <a:rPr lang="en-US" sz="1400" b="1" dirty="0">
                <a:latin typeface="+mj-lt"/>
              </a:rPr>
              <a:t>  Once-Only" Principle</a:t>
            </a:r>
          </a:p>
          <a:p>
            <a:r>
              <a:rPr lang="en-US" sz="1400" b="1" dirty="0">
                <a:latin typeface="+mj-lt"/>
              </a:rPr>
              <a:t>   Basis for Future Innovation</a:t>
            </a:r>
          </a:p>
          <a:p>
            <a:r>
              <a:rPr lang="en-US" sz="1400" b="1" dirty="0">
                <a:latin typeface="+mj-lt"/>
              </a:rPr>
              <a:t>   Support for E-Residency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948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C7C74-E8A1-B86A-FB6E-97B1478A2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478" y="342822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ptos" panose="020B0004020202020204" pitchFamily="34" charset="0"/>
              </a:rPr>
              <a:t>Challenges, future direction and lesson learned</a:t>
            </a:r>
            <a:br>
              <a:rPr lang="en-US" sz="3200" dirty="0">
                <a:latin typeface="Aptos" panose="020B0004020202020204" pitchFamily="34" charset="0"/>
              </a:rPr>
            </a:b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45DB046-6FBA-49DE-246D-345E899D9F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32345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latin typeface="+mj-lt"/>
              </a:rPr>
              <a:t>    </a:t>
            </a:r>
            <a:r>
              <a:rPr lang="en-US" sz="1400" b="1" dirty="0">
                <a:latin typeface="Aptos" panose="020B0004020202020204" pitchFamily="34" charset="0"/>
              </a:rPr>
              <a:t>Obstacles</a:t>
            </a:r>
          </a:p>
          <a:p>
            <a:r>
              <a:rPr lang="en-US" sz="1400" b="1" dirty="0">
                <a:latin typeface="+mj-lt"/>
              </a:rPr>
              <a:t>Resistance to Change and Legacy Systems</a:t>
            </a:r>
          </a:p>
          <a:p>
            <a:r>
              <a:rPr lang="en-US" sz="1400" b="1" dirty="0">
                <a:latin typeface="+mj-lt"/>
              </a:rPr>
              <a:t>Perceived Security Concerns</a:t>
            </a:r>
          </a:p>
          <a:p>
            <a:r>
              <a:rPr lang="en-US" sz="1400" b="1" dirty="0">
                <a:latin typeface="+mj-lt"/>
              </a:rPr>
              <a:t>Procurement Challenges</a:t>
            </a:r>
          </a:p>
          <a:p>
            <a:r>
              <a:rPr lang="en-US" sz="1400" b="1" dirty="0">
                <a:latin typeface="+mj-lt"/>
              </a:rPr>
              <a:t>Skills Gap</a:t>
            </a:r>
            <a:endParaRPr lang="en-US" sz="1400" dirty="0">
              <a:latin typeface="+mj-lt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091DDB-CA4F-0876-5D49-EAEB7E3BE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32345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sz="1400" b="1" dirty="0">
                <a:latin typeface="Aptos" panose="020B0004020202020204" pitchFamily="34" charset="0"/>
              </a:rPr>
              <a:t> Future Developments/directions</a:t>
            </a:r>
          </a:p>
          <a:p>
            <a:r>
              <a:rPr lang="en-US" sz="1400" b="1" dirty="0">
                <a:latin typeface="+mj-lt"/>
              </a:rPr>
              <a:t>G-Cloud 2.0 (Next Generation Infrastructure</a:t>
            </a:r>
          </a:p>
          <a:p>
            <a:r>
              <a:rPr lang="en-US" sz="1400" b="1" dirty="0">
                <a:latin typeface="+mj-lt"/>
              </a:rPr>
              <a:t>AI Integration and the 'Agentic State' Concept</a:t>
            </a:r>
          </a:p>
          <a:p>
            <a:r>
              <a:rPr lang="en-US" sz="1400" b="1" dirty="0">
                <a:latin typeface="+mj-lt"/>
              </a:rPr>
              <a:t>Multi-Cloud and Cloud Federation</a:t>
            </a:r>
          </a:p>
          <a:p>
            <a:r>
              <a:rPr lang="en-US" sz="1400" b="1" dirty="0">
                <a:latin typeface="+mj-lt"/>
              </a:rPr>
              <a:t>Edge Computing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D9C92F-5FDF-D254-75A4-97D673B47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044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6.2. Future Developments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223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B54649-06C6-D99D-F7E6-98CF042BC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219" y="-67101"/>
            <a:ext cx="9144000" cy="23876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ptos" panose="020B0004020202020204" pitchFamily="34" charset="0"/>
              </a:rPr>
              <a:t>Lesson learned/International implication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3459E1A-6436-E43A-198D-84F6397EA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0186" y="2601119"/>
            <a:ext cx="9144000" cy="165576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n-NO" sz="1400" b="1" dirty="0">
                <a:latin typeface="+mj-lt"/>
              </a:rPr>
              <a:t>A Model for Data Sovereignty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b="1" dirty="0">
                <a:latin typeface="+mj-lt"/>
              </a:rPr>
              <a:t>The "Data Embassy" Precedent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b="1" dirty="0">
                <a:latin typeface="+mj-lt"/>
              </a:rPr>
              <a:t>Blueprint for Interoperability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b="1" dirty="0">
                <a:latin typeface="+mj-lt"/>
              </a:rPr>
              <a:t>Building Digital Trust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90053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074D8-6783-AE54-2E7F-B22A7CFD0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30" y="365125"/>
            <a:ext cx="10759070" cy="1325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872B2F-529A-146E-29DB-E26751D918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4730" y="1289937"/>
            <a:ext cx="9145877" cy="192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Its successful implementation has achieved significant operational efficiency, enabling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100% online public services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 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+mj-lt"/>
              </a:rPr>
              <a:t>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ubstantial economic savings.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Crucially, through innovative measures like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"data embassies"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 and strong security standards (ISKE, KSI Blockchain),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Riigipilv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guarantees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national digital sovereignty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 and unparalleled resilience against cyber threats or physical crises.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It stands as a robust international model demonstrating how a nation can leverage modern technology to be efficient, secure, and digitally resilient.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22994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616AB2-802B-F1C5-2D3F-7C56EA1EA3D7}"/>
              </a:ext>
            </a:extLst>
          </p:cNvPr>
          <p:cNvGrpSpPr/>
          <p:nvPr/>
        </p:nvGrpSpPr>
        <p:grpSpPr>
          <a:xfrm>
            <a:off x="1993249" y="1723609"/>
            <a:ext cx="360" cy="360"/>
            <a:chOff x="1993249" y="1723609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8DB21E2-8577-5250-D677-4B530881DD18}"/>
                    </a:ext>
                  </a:extLst>
                </p14:cNvPr>
                <p14:cNvContentPartPr/>
                <p14:nvPr/>
              </p14:nvContentPartPr>
              <p14:xfrm>
                <a:off x="1993249" y="1723609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8DB21E2-8577-5250-D677-4B530881DD1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87129" y="171748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D14B163-1E74-4D46-317C-166C4D0ABA04}"/>
                    </a:ext>
                  </a:extLst>
                </p14:cNvPr>
                <p14:cNvContentPartPr/>
                <p14:nvPr/>
              </p14:nvContentPartPr>
              <p14:xfrm>
                <a:off x="1993249" y="1723609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D14B163-1E74-4D46-317C-166C4D0ABA0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87129" y="171748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42601F31-613B-101D-5994-BCD346F4F2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52400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631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1449</TotalTime>
  <Words>527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Google Sans</vt:lpstr>
      <vt:lpstr>Trebuchet MS</vt:lpstr>
      <vt:lpstr>Wingdings 3</vt:lpstr>
      <vt:lpstr>Facet</vt:lpstr>
      <vt:lpstr>GOVERNMENT CLOUD ESTONIA</vt:lpstr>
      <vt:lpstr>Table of content</vt:lpstr>
      <vt:lpstr>Estonian Government Cloud</vt:lpstr>
      <vt:lpstr>KEY FEATURES</vt:lpstr>
      <vt:lpstr>Pillars of Estonia e-Governance</vt:lpstr>
      <vt:lpstr>Need/Importance/Advantages</vt:lpstr>
      <vt:lpstr>Challenges, future direction and lesson learned </vt:lpstr>
      <vt:lpstr>Lesson learned/International implication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Yadav</dc:creator>
  <cp:lastModifiedBy>Akash Yadav</cp:lastModifiedBy>
  <cp:revision>2</cp:revision>
  <dcterms:created xsi:type="dcterms:W3CDTF">2025-12-14T14:08:01Z</dcterms:created>
  <dcterms:modified xsi:type="dcterms:W3CDTF">2025-12-15T17:54:13Z</dcterms:modified>
</cp:coreProperties>
</file>